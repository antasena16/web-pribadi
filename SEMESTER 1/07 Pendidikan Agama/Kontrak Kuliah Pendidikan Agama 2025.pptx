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  <p:sldMasterId id="2147483797" r:id="rId2"/>
  </p:sldMasterIdLst>
  <p:notesMasterIdLst>
    <p:notesMasterId r:id="rId10"/>
  </p:notesMasterIdLst>
  <p:sldIdLst>
    <p:sldId id="256" r:id="rId3"/>
    <p:sldId id="289" r:id="rId4"/>
    <p:sldId id="327" r:id="rId5"/>
    <p:sldId id="328" r:id="rId6"/>
    <p:sldId id="334" r:id="rId7"/>
    <p:sldId id="316" r:id="rId8"/>
    <p:sldId id="33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4" autoAdjust="0"/>
    <p:restoredTop sz="94179" autoAdjust="0"/>
  </p:normalViewPr>
  <p:slideViewPr>
    <p:cSldViewPr>
      <p:cViewPr varScale="1">
        <p:scale>
          <a:sx n="66" d="100"/>
          <a:sy n="66" d="100"/>
        </p:scale>
        <p:origin x="52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98225-842C-4BEF-A74D-10B06EB1BCC6}" type="datetimeFigureOut">
              <a:rPr lang="id-ID" smtClean="0"/>
              <a:pPr/>
              <a:t>02/10/2024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E47F8-AFC5-476D-83A7-86786FAF7906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3888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E47F8-AFC5-476D-83A7-86786FAF7906}" type="slidenum">
              <a:rPr lang="id-ID" smtClean="0"/>
              <a:pPr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7688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E47F8-AFC5-476D-83A7-86786FAF7906}" type="slidenum">
              <a:rPr lang="id-ID" smtClean="0"/>
              <a:pPr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71512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2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6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6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3"/>
            <a:ext cx="2743200" cy="365125"/>
          </a:xfrm>
        </p:spPr>
        <p:txBody>
          <a:bodyPr/>
          <a:lstStyle/>
          <a:p>
            <a:fld id="{9184DA70-C731-4C70-880D-CCD4705E623C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5" y="5410203"/>
            <a:ext cx="512488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3" y="5410201"/>
            <a:ext cx="771089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6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570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8"/>
            <a:ext cx="9906000" cy="2852737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529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1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8942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8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21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1" y="3073399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9"/>
            <a:ext cx="487521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6170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929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8198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6" y="609601"/>
            <a:ext cx="3856037" cy="163988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1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6" y="2249486"/>
            <a:ext cx="3856037" cy="354171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3533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4" y="609600"/>
            <a:ext cx="5934508" cy="163988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3"/>
            <a:ext cx="3666691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249486"/>
            <a:ext cx="5934511" cy="354171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6049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4304666"/>
            <a:ext cx="9912355" cy="819355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5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5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3369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7" y="609600"/>
            <a:ext cx="9905955" cy="342900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419601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5795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1"/>
            <a:ext cx="9302752" cy="2748429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3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1" y="2764972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2936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2134043"/>
            <a:ext cx="9906001" cy="2511835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5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42526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4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1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9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8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4" y="3363435"/>
            <a:ext cx="3195831" cy="243093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3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3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2893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60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4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8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4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3" y="4980856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36298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7084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1" y="609601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601"/>
            <a:ext cx="7748591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3234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1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/>
        </p:nvSpPr>
        <p:spPr>
          <a:xfrm>
            <a:off x="1600202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/>
        </p:nvSpPr>
        <p:spPr>
          <a:xfrm>
            <a:off x="2795589" y="0"/>
            <a:ext cx="6803143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982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/>
        </p:nvGrpSpPr>
        <p:grpSpPr>
          <a:xfrm>
            <a:off x="6452305" y="3405021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5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/>
        </p:nvGrpSpPr>
        <p:grpSpPr>
          <a:xfrm flipH="1" flipV="1">
            <a:off x="6465612" y="2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50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50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9" y="4577660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/>
            </a:lvl1pPr>
            <a:lvl2pPr marL="260604">
              <a:lnSpc>
                <a:spcPct val="150000"/>
              </a:lnSpc>
              <a:spcBef>
                <a:spcPts val="0"/>
              </a:spcBef>
              <a:defRPr sz="1500"/>
            </a:lvl2pPr>
            <a:lvl3pPr marL="514350">
              <a:lnSpc>
                <a:spcPct val="150000"/>
              </a:lnSpc>
              <a:spcBef>
                <a:spcPts val="0"/>
              </a:spcBef>
              <a:defRPr sz="13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9126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/>
        </p:nvSpPr>
        <p:spPr>
          <a:xfrm>
            <a:off x="0" y="3427338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/>
        </p:nvSpPr>
        <p:spPr>
          <a:xfrm>
            <a:off x="0" y="3427338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/>
        </p:nvSpPr>
        <p:spPr>
          <a:xfrm>
            <a:off x="2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>
              <a:defRPr sz="1125"/>
            </a:lvl2pPr>
            <a:lvl3pPr>
              <a:defRPr sz="1125"/>
            </a:lvl3pPr>
            <a:lvl4pPr>
              <a:defRPr sz="1125"/>
            </a:lvl4pPr>
            <a:lvl5pPr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/>
        </p:nvSpPr>
        <p:spPr>
          <a:xfrm>
            <a:off x="2" y="871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297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/>
        </p:nvSpPr>
        <p:spPr>
          <a:xfrm>
            <a:off x="7610253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/>
        </p:nvSpPr>
        <p:spPr>
          <a:xfrm>
            <a:off x="9883919" y="4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/>
        </p:nvSpPr>
        <p:spPr>
          <a:xfrm>
            <a:off x="8395731" y="4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/>
        </p:nvSpPr>
        <p:spPr>
          <a:xfrm>
            <a:off x="1390855" y="3130664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accent6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55232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33729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/>
        </p:nvSpPr>
        <p:spPr>
          <a:xfrm>
            <a:off x="9866106" y="0"/>
            <a:ext cx="2325895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080002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2475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75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1" y="4308477"/>
            <a:ext cx="3932239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75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/>
        </p:nvSpPr>
        <p:spPr>
          <a:xfrm>
            <a:off x="-9414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9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/>
        </p:nvSpPr>
        <p:spPr bwMode="auto">
          <a:xfrm flipH="1">
            <a:off x="2535251" y="4308468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350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/>
        </p:nvSpPr>
        <p:spPr bwMode="auto">
          <a:xfrm flipH="1">
            <a:off x="-10617" y="4308468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3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61166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338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6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35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9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35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3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90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35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9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3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35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9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365755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050" b="1" cap="all" spc="15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050" b="1" cap="all" spc="15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050" b="1" cap="all" spc="15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050" b="1" cap="all" spc="15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050" b="1" cap="all" spc="15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050" b="1" cap="all" spc="15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050" b="1" cap="all" spc="15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050" b="1" cap="all" spc="15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 spc="15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26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/>
        </p:nvSpPr>
        <p:spPr>
          <a:xfrm>
            <a:off x="68533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9" y="2491686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7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1" y="2491686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7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1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6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7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6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7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6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7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69347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/>
        </p:nvSpPr>
        <p:spPr>
          <a:xfrm>
            <a:off x="0" y="0"/>
            <a:ext cx="2838451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/>
        </p:nvSpPr>
        <p:spPr>
          <a:xfrm>
            <a:off x="2" y="3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5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/>
        </p:nvCxnSpPr>
        <p:spPr>
          <a:xfrm>
            <a:off x="739399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5049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1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8" y="3440506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35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125"/>
            </a:lvl1pPr>
            <a:lvl2pPr>
              <a:defRPr sz="975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35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125"/>
            </a:lvl1pPr>
            <a:lvl2pPr>
              <a:defRPr sz="975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018439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7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260604" indent="-260604" algn="l">
              <a:spcBef>
                <a:spcPts val="270"/>
              </a:spcBef>
              <a:buFont typeface="Arial" panose="020B0604020202020204" pitchFamily="34" charset="0"/>
              <a:buChar char="•"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7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260604" indent="-260604" algn="l">
              <a:spcBef>
                <a:spcPts val="270"/>
              </a:spcBef>
              <a:buFont typeface="Arial" panose="020B0604020202020204" pitchFamily="34" charset="0"/>
              <a:buChar char="•"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7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260604" indent="-260604" algn="l">
              <a:spcBef>
                <a:spcPts val="270"/>
              </a:spcBef>
              <a:buFont typeface="Arial" panose="020B0604020202020204" pitchFamily="34" charset="0"/>
              <a:buChar char="•"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21198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9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9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7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5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5" y="3441269"/>
            <a:ext cx="2200115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60" y="566761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>
              <a:defRPr sz="1125"/>
            </a:lvl2pPr>
            <a:lvl3pPr>
              <a:defRPr sz="1125"/>
            </a:lvl3pPr>
            <a:lvl4pPr>
              <a:defRPr sz="1125"/>
            </a:lvl4pPr>
            <a:lvl5pPr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4444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/>
        </p:nvSpPr>
        <p:spPr>
          <a:xfrm>
            <a:off x="0" y="0"/>
            <a:ext cx="8948739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/>
        </p:nvSpPr>
        <p:spPr>
          <a:xfrm>
            <a:off x="7538626" y="13144"/>
            <a:ext cx="4653375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5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432"/>
              </a:spcBef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414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1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350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8" y="3440506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125"/>
            </a:lvl1pPr>
            <a:lvl2pPr>
              <a:defRPr sz="975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125"/>
            </a:lvl1pPr>
            <a:lvl2pPr>
              <a:defRPr sz="975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2428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212541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00892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616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4059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2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4" y="618518"/>
            <a:ext cx="99059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4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7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2" y="5883276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757159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B8783E-95E2-470A-A2F9-68CF370C3D48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2912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  <p:sldLayoutId id="2147483815" r:id="rId18"/>
    <p:sldLayoutId id="2147483816" r:id="rId19"/>
    <p:sldLayoutId id="2147483817" r:id="rId20"/>
  </p:sldLayoutIdLst>
  <p:txStyles>
    <p:titleStyle>
      <a:lvl1pPr algn="ctr" defTabSz="685800" rtl="0" eaLnBrk="1" latinLnBrk="0" hangingPunct="1">
        <a:lnSpc>
          <a:spcPts val="3656"/>
        </a:lnSpc>
        <a:spcBef>
          <a:spcPct val="0"/>
        </a:spcBef>
        <a:buNone/>
        <a:defRPr sz="33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60604" indent="-260604" algn="l" defTabSz="685800" rtl="0" eaLnBrk="1" latinLnBrk="0" hangingPunct="1">
        <a:lnSpc>
          <a:spcPct val="100000"/>
        </a:lnSpc>
        <a:spcBef>
          <a:spcPts val="270"/>
        </a:spcBef>
        <a:buFont typeface="Arial" panose="020B0604020202020204" pitchFamily="34" charset="0"/>
        <a:buChar char="•"/>
        <a:defRPr sz="21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514350" indent="-260604" algn="l" defTabSz="685800" rtl="0" eaLnBrk="1" latinLnBrk="0" hangingPunct="1">
        <a:lnSpc>
          <a:spcPct val="100000"/>
        </a:lnSpc>
        <a:spcBef>
          <a:spcPts val="27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857250" indent="-260604" algn="l" defTabSz="685800" rtl="0" eaLnBrk="1" latinLnBrk="0" hangingPunct="1">
        <a:lnSpc>
          <a:spcPct val="100000"/>
        </a:lnSpc>
        <a:spcBef>
          <a:spcPts val="270"/>
        </a:spcBef>
        <a:buFont typeface="Arial" panose="020B0604020202020204" pitchFamily="34" charset="0"/>
        <a:buChar char="•"/>
        <a:defRPr sz="15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200150" indent="-260604" algn="l" defTabSz="685800" rtl="0" eaLnBrk="1" latinLnBrk="0" hangingPunct="1">
        <a:lnSpc>
          <a:spcPct val="100000"/>
        </a:lnSpc>
        <a:spcBef>
          <a:spcPts val="270"/>
        </a:spcBef>
        <a:buFont typeface="Arial" panose="020B0604020202020204" pitchFamily="34" charset="0"/>
        <a:buChar char="•"/>
        <a:defRPr sz="135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543050" indent="-260604" algn="l" defTabSz="685800" rtl="0" eaLnBrk="1" latinLnBrk="0" hangingPunct="1">
        <a:lnSpc>
          <a:spcPct val="100000"/>
        </a:lnSpc>
        <a:spcBef>
          <a:spcPts val="270"/>
        </a:spcBef>
        <a:buFont typeface="Arial" panose="020B0604020202020204" pitchFamily="34" charset="0"/>
        <a:buChar char="•"/>
        <a:defRPr sz="1350" kern="1200">
          <a:solidFill>
            <a:schemeClr val="accent6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mamku85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04666"/>
            <a:ext cx="7772400" cy="2232247"/>
          </a:xfrm>
        </p:spPr>
        <p:txBody>
          <a:bodyPr>
            <a:normAutofit/>
          </a:bodyPr>
          <a:lstStyle/>
          <a:p>
            <a:pPr algn="ctr"/>
            <a:r>
              <a:rPr lang="id-ID" dirty="0"/>
              <a:t>Silabus &amp; kontrak perkuliahan</a:t>
            </a:r>
            <a:br>
              <a:rPr lang="id-ID" dirty="0"/>
            </a:br>
            <a:r>
              <a:rPr lang="en-US" sz="4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PENDIDIKAN AGAMA</a:t>
            </a:r>
            <a:endParaRPr lang="id-ID" sz="48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9786" y="2780928"/>
            <a:ext cx="7786742" cy="1944216"/>
          </a:xfrm>
        </p:spPr>
        <p:txBody>
          <a:bodyPr>
            <a:normAutofit fontScale="92500" lnSpcReduction="20000"/>
          </a:bodyPr>
          <a:lstStyle/>
          <a:p>
            <a:pPr algn="ctr"/>
            <a:endParaRPr lang="en-US" sz="3200" b="1" u="sng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id-ID" sz="3200" b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Imam Khoirul Ulumuddin, M.Pd.I</a:t>
            </a:r>
          </a:p>
          <a:p>
            <a:pPr algn="ctr"/>
            <a:r>
              <a:rPr lang="id-ID" sz="1800" b="1" dirty="0"/>
              <a:t>WA	:  089 850 550 89</a:t>
            </a:r>
            <a:endParaRPr lang="en-US" sz="1800" dirty="0"/>
          </a:p>
          <a:p>
            <a:pPr algn="ctr"/>
            <a:r>
              <a:rPr lang="id-ID" sz="1800" b="1" dirty="0"/>
              <a:t>Email	:  </a:t>
            </a:r>
            <a:r>
              <a:rPr lang="id-ID" sz="1800" b="1" u="sng" dirty="0">
                <a:hlinkClick r:id="rId3"/>
              </a:rPr>
              <a:t>imamku@</a:t>
            </a:r>
            <a:r>
              <a:rPr lang="en-US" sz="1800" b="1" u="sng" dirty="0"/>
              <a:t>unwahas.ac.id</a:t>
            </a:r>
            <a:endParaRPr lang="id-ID" sz="2400" b="1" dirty="0"/>
          </a:p>
          <a:p>
            <a:endParaRPr lang="id-ID" b="1" dirty="0"/>
          </a:p>
          <a:p>
            <a:endParaRPr lang="id-ID" b="1" dirty="0"/>
          </a:p>
          <a:p>
            <a:endParaRPr lang="id-ID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503712" y="5270396"/>
            <a:ext cx="540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b="1" dirty="0"/>
              <a:t>UNWAHAS </a:t>
            </a:r>
          </a:p>
          <a:p>
            <a:pPr algn="ctr"/>
            <a:r>
              <a:rPr lang="id-ID" b="1" dirty="0"/>
              <a:t>SEMARANG</a:t>
            </a:r>
          </a:p>
          <a:p>
            <a:pPr algn="ctr"/>
            <a:r>
              <a:rPr lang="id-ID" b="1" dirty="0"/>
              <a:t>20</a:t>
            </a:r>
            <a:r>
              <a:rPr lang="en-US" b="1" dirty="0"/>
              <a:t>24</a:t>
            </a:r>
            <a:endParaRPr lang="id-ID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01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4" y="618518"/>
            <a:ext cx="9905999" cy="722250"/>
          </a:xfrm>
        </p:spPr>
        <p:txBody>
          <a:bodyPr/>
          <a:lstStyle/>
          <a:p>
            <a:r>
              <a:rPr lang="id-ID" b="1" dirty="0">
                <a:solidFill>
                  <a:schemeClr val="accent2">
                    <a:lumMod val="50000"/>
                  </a:schemeClr>
                </a:solidFill>
              </a:rPr>
              <a:t>pengantar</a:t>
            </a:r>
            <a:endParaRPr lang="id-ID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000108"/>
            <a:ext cx="9905998" cy="4857784"/>
          </a:xfrm>
        </p:spPr>
        <p:txBody>
          <a:bodyPr>
            <a:normAutofit/>
          </a:bodyPr>
          <a:lstStyle/>
          <a:p>
            <a:pPr>
              <a:buNone/>
            </a:pPr>
            <a:br>
              <a:rPr lang="id-ID" b="1" dirty="0">
                <a:solidFill>
                  <a:schemeClr val="bg1"/>
                </a:solidFill>
              </a:rPr>
            </a:br>
            <a:r>
              <a:rPr lang="en-US" sz="2800" b="1" dirty="0" err="1">
                <a:solidFill>
                  <a:schemeClr val="bg1"/>
                </a:solidFill>
              </a:rPr>
              <a:t>Perkuliahan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ini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merupakan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studi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mengenenai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pendidikan</a:t>
            </a:r>
            <a:r>
              <a:rPr lang="en-US" sz="2800" b="1" dirty="0">
                <a:solidFill>
                  <a:schemeClr val="bg1"/>
                </a:solidFill>
              </a:rPr>
              <a:t> Agama Islam </a:t>
            </a:r>
            <a:r>
              <a:rPr lang="en-US" sz="2800" b="1" dirty="0" err="1">
                <a:solidFill>
                  <a:schemeClr val="bg1"/>
                </a:solidFill>
              </a:rPr>
              <a:t>dalam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berbagai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aspek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kehidupan</a:t>
            </a:r>
            <a:r>
              <a:rPr lang="en-US" sz="2800" b="1" dirty="0">
                <a:solidFill>
                  <a:schemeClr val="bg1"/>
                </a:solidFill>
              </a:rPr>
              <a:t>. </a:t>
            </a:r>
            <a:r>
              <a:rPr lang="en-US" sz="2800" b="1" dirty="0" err="1">
                <a:solidFill>
                  <a:schemeClr val="bg1"/>
                </a:solidFill>
              </a:rPr>
              <a:t>Perkuliahan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ini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menawarkan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kepada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mahasiswa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untuk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memahami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dan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mendalami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esensi</a:t>
            </a:r>
            <a:r>
              <a:rPr lang="en-US" sz="2800" b="1" dirty="0">
                <a:solidFill>
                  <a:schemeClr val="bg1"/>
                </a:solidFill>
              </a:rPr>
              <a:t> agama Islam </a:t>
            </a:r>
            <a:r>
              <a:rPr lang="en-US" sz="2800" b="1" dirty="0" err="1">
                <a:solidFill>
                  <a:schemeClr val="bg1"/>
                </a:solidFill>
              </a:rPr>
              <a:t>dengan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cara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menganalisis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isi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buku-buku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dan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juga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menggunakan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penalaran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serta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pengalaman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empiris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dalam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melaksanakan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perintah</a:t>
            </a:r>
            <a:r>
              <a:rPr lang="en-US" sz="2800" b="1" dirty="0">
                <a:solidFill>
                  <a:schemeClr val="bg1"/>
                </a:solidFill>
              </a:rPr>
              <a:t> Allah </a:t>
            </a:r>
            <a:r>
              <a:rPr lang="en-US" sz="2800" b="1" dirty="0" err="1">
                <a:solidFill>
                  <a:schemeClr val="bg1"/>
                </a:solidFill>
              </a:rPr>
              <a:t>dan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menghambakan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kepada</a:t>
            </a:r>
            <a:r>
              <a:rPr lang="en-US" sz="2800" b="1" dirty="0">
                <a:solidFill>
                  <a:schemeClr val="bg1"/>
                </a:solidFill>
              </a:rPr>
              <a:t> Allah yang </a:t>
            </a:r>
            <a:r>
              <a:rPr lang="en-US" sz="2800" b="1" dirty="0" err="1">
                <a:solidFill>
                  <a:schemeClr val="bg1"/>
                </a:solidFill>
              </a:rPr>
              <a:t>dihubungkan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dengan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kegiatan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nyata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dalam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sehari-hari</a:t>
            </a:r>
            <a:endParaRPr lang="id-ID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954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960" y="1916832"/>
            <a:ext cx="7178064" cy="4104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 err="1"/>
              <a:t>Mahasiswa</a:t>
            </a:r>
            <a:r>
              <a:rPr lang="en-US" sz="3600" dirty="0"/>
              <a:t> </a:t>
            </a:r>
            <a:r>
              <a:rPr lang="en-US" sz="3600" dirty="0" err="1"/>
              <a:t>mampu</a:t>
            </a:r>
            <a:r>
              <a:rPr lang="en-US" sz="3600" dirty="0"/>
              <a:t> </a:t>
            </a:r>
            <a:r>
              <a:rPr lang="en-US" sz="3600" dirty="0" err="1"/>
              <a:t>mengidentifikasi</a:t>
            </a:r>
            <a:r>
              <a:rPr lang="en-US" sz="3600" dirty="0"/>
              <a:t> </a:t>
            </a:r>
            <a:r>
              <a:rPr lang="en-US" sz="3600" dirty="0" err="1"/>
              <a:t>dan</a:t>
            </a:r>
            <a:r>
              <a:rPr lang="en-US" sz="3600" dirty="0"/>
              <a:t> </a:t>
            </a:r>
            <a:r>
              <a:rPr lang="en-US" sz="3600" dirty="0" err="1"/>
              <a:t>mendalami</a:t>
            </a:r>
            <a:r>
              <a:rPr lang="en-US" sz="3600" dirty="0"/>
              <a:t> </a:t>
            </a:r>
            <a:r>
              <a:rPr lang="en-US" sz="3600" dirty="0" err="1"/>
              <a:t>esensi</a:t>
            </a:r>
            <a:r>
              <a:rPr lang="en-US" sz="3600" dirty="0"/>
              <a:t> </a:t>
            </a:r>
            <a:r>
              <a:rPr lang="en-US" sz="3600" dirty="0" err="1"/>
              <a:t>pendidikan</a:t>
            </a:r>
            <a:r>
              <a:rPr lang="en-US" sz="3600" dirty="0"/>
              <a:t> agama Islam </a:t>
            </a:r>
            <a:r>
              <a:rPr lang="en-US" sz="3600" dirty="0" err="1"/>
              <a:t>secara</a:t>
            </a:r>
            <a:r>
              <a:rPr lang="en-US" sz="3600" dirty="0"/>
              <a:t> </a:t>
            </a:r>
            <a:r>
              <a:rPr lang="en-US" sz="3600" dirty="0" err="1"/>
              <a:t>benar</a:t>
            </a:r>
            <a:r>
              <a:rPr lang="en-US" sz="3600" dirty="0"/>
              <a:t> </a:t>
            </a:r>
            <a:r>
              <a:rPr lang="en-US" sz="3600" dirty="0" err="1"/>
              <a:t>berdasarkan</a:t>
            </a:r>
            <a:r>
              <a:rPr lang="en-US" sz="3600" dirty="0"/>
              <a:t> </a:t>
            </a:r>
            <a:r>
              <a:rPr lang="en-US" sz="3600" dirty="0" err="1"/>
              <a:t>prinsip-prinsip</a:t>
            </a:r>
            <a:r>
              <a:rPr lang="en-US" sz="3600" dirty="0"/>
              <a:t> </a:t>
            </a:r>
            <a:r>
              <a:rPr lang="en-US" sz="3600" dirty="0" err="1"/>
              <a:t>syari’ah</a:t>
            </a:r>
            <a:r>
              <a:rPr lang="en-US" sz="3600" dirty="0"/>
              <a:t> Islam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095472" y="1071546"/>
            <a:ext cx="7178064" cy="928694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indent="-274320">
              <a:spcBef>
                <a:spcPts val="600"/>
              </a:spcBef>
              <a:buClr>
                <a:schemeClr val="tx2"/>
              </a:buClr>
              <a:buSzPct val="73000"/>
            </a:pPr>
            <a:r>
              <a:rPr lang="id-ID" sz="3200" b="1" dirty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TUJUAN PERKULIAHAN</a:t>
            </a:r>
          </a:p>
          <a:p>
            <a:pPr marL="274320" indent="-274320" defTabSz="914400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endParaRPr lang="id-ID" sz="320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96" y="142852"/>
            <a:ext cx="7239000" cy="465754"/>
          </a:xfrm>
        </p:spPr>
        <p:txBody>
          <a:bodyPr>
            <a:normAutofit fontScale="90000"/>
          </a:bodyPr>
          <a:lstStyle/>
          <a:p>
            <a:r>
              <a:rPr lang="id-ID" dirty="0">
                <a:solidFill>
                  <a:schemeClr val="accent6">
                    <a:lumMod val="75000"/>
                  </a:schemeClr>
                </a:solidFill>
              </a:rPr>
              <a:t>Topik pembahasan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642918"/>
            <a:ext cx="10873208" cy="573841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Pengantar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Perkuliahan</a:t>
            </a:r>
            <a:r>
              <a:rPr lang="en-US" sz="2400" b="1" dirty="0">
                <a:solidFill>
                  <a:schemeClr val="tx1"/>
                </a:solidFill>
              </a:rPr>
              <a:t> PAI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Manusia</a:t>
            </a:r>
            <a:r>
              <a:rPr lang="en-US" sz="2400" b="1" dirty="0">
                <a:solidFill>
                  <a:schemeClr val="tx1"/>
                </a:solidFill>
              </a:rPr>
              <a:t>  dan  Agama </a:t>
            </a:r>
            <a:endParaRPr lang="en-GB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Al Qur’an dan Al </a:t>
            </a:r>
            <a:r>
              <a:rPr lang="en-US" sz="2400" b="1" dirty="0" err="1">
                <a:solidFill>
                  <a:schemeClr val="tx1"/>
                </a:solidFill>
              </a:rPr>
              <a:t>Hadits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sebagai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sumber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hukum</a:t>
            </a:r>
            <a:r>
              <a:rPr lang="en-US" sz="2400" b="1" dirty="0">
                <a:solidFill>
                  <a:schemeClr val="tx1"/>
                </a:solidFill>
              </a:rPr>
              <a:t> Islam (</a:t>
            </a:r>
            <a:r>
              <a:rPr lang="en-US" sz="2400" b="1" dirty="0" err="1">
                <a:solidFill>
                  <a:schemeClr val="tx1"/>
                </a:solidFill>
              </a:rPr>
              <a:t>Pengertian</a:t>
            </a:r>
            <a:r>
              <a:rPr lang="en-US" sz="2400" b="1" dirty="0">
                <a:solidFill>
                  <a:schemeClr val="tx1"/>
                </a:solidFill>
              </a:rPr>
              <a:t>, </a:t>
            </a:r>
            <a:r>
              <a:rPr lang="en-US" sz="2400" b="1" dirty="0" err="1">
                <a:solidFill>
                  <a:schemeClr val="tx1"/>
                </a:solidFill>
              </a:rPr>
              <a:t>Pokok-pokok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isi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Ajaran</a:t>
            </a:r>
            <a:r>
              <a:rPr lang="en-US" sz="2400" b="1" dirty="0">
                <a:solidFill>
                  <a:schemeClr val="tx1"/>
                </a:solidFill>
              </a:rPr>
              <a:t> dan </a:t>
            </a:r>
            <a:r>
              <a:rPr lang="en-US" sz="2400" b="1" dirty="0" err="1">
                <a:solidFill>
                  <a:schemeClr val="tx1"/>
                </a:solidFill>
              </a:rPr>
              <a:t>Fungsi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bagi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umat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Manusia</a:t>
            </a:r>
            <a:r>
              <a:rPr lang="en-US" sz="2400" b="1" dirty="0">
                <a:solidFill>
                  <a:schemeClr val="tx1"/>
                </a:solidFill>
              </a:rPr>
              <a:t>)</a:t>
            </a:r>
            <a:endParaRPr lang="en-GB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Konsep</a:t>
            </a:r>
            <a:r>
              <a:rPr lang="en-US" sz="2400" b="1" dirty="0">
                <a:solidFill>
                  <a:schemeClr val="tx1"/>
                </a:solidFill>
              </a:rPr>
              <a:t> Aqidah </a:t>
            </a:r>
            <a:r>
              <a:rPr lang="en-US" sz="2400" b="1" dirty="0" err="1">
                <a:solidFill>
                  <a:schemeClr val="tx1"/>
                </a:solidFill>
              </a:rPr>
              <a:t>dalam</a:t>
            </a:r>
            <a:r>
              <a:rPr lang="en-US" sz="2400" b="1" dirty="0">
                <a:solidFill>
                  <a:schemeClr val="tx1"/>
                </a:solidFill>
              </a:rPr>
              <a:t> Islam (</a:t>
            </a:r>
            <a:r>
              <a:rPr lang="en-US" sz="2400" b="1" dirty="0" err="1">
                <a:solidFill>
                  <a:schemeClr val="tx1"/>
                </a:solidFill>
              </a:rPr>
              <a:t>Hubungan</a:t>
            </a:r>
            <a:r>
              <a:rPr lang="en-US" sz="2400" b="1" dirty="0">
                <a:solidFill>
                  <a:schemeClr val="tx1"/>
                </a:solidFill>
              </a:rPr>
              <a:t> Iman, Islam dan Ihsan)</a:t>
            </a:r>
            <a:endParaRPr lang="en-GB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Implikasi</a:t>
            </a:r>
            <a:r>
              <a:rPr lang="en-US" sz="2400" b="1" dirty="0">
                <a:solidFill>
                  <a:schemeClr val="tx1"/>
                </a:solidFill>
              </a:rPr>
              <a:t> Tauhid </a:t>
            </a:r>
            <a:r>
              <a:rPr lang="en-US" sz="2400" b="1" dirty="0" err="1">
                <a:solidFill>
                  <a:schemeClr val="tx1"/>
                </a:solidFill>
              </a:rPr>
              <a:t>dalam</a:t>
            </a:r>
            <a:r>
              <a:rPr lang="en-US" sz="2400" b="1" dirty="0">
                <a:solidFill>
                  <a:schemeClr val="tx1"/>
                </a:solidFill>
              </a:rPr>
              <a:t> Ibadah dan </a:t>
            </a:r>
            <a:r>
              <a:rPr lang="en-US" sz="2400" b="1" dirty="0" err="1">
                <a:solidFill>
                  <a:schemeClr val="tx1"/>
                </a:solidFill>
              </a:rPr>
              <a:t>Muamalah</a:t>
            </a:r>
            <a:endParaRPr lang="en-GB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Konsep</a:t>
            </a:r>
            <a:r>
              <a:rPr lang="en-US" sz="2400" b="1" dirty="0">
                <a:solidFill>
                  <a:schemeClr val="tx1"/>
                </a:solidFill>
              </a:rPr>
              <a:t> ibadah </a:t>
            </a:r>
            <a:r>
              <a:rPr lang="en-US" sz="2400" b="1" dirty="0" err="1">
                <a:solidFill>
                  <a:schemeClr val="tx1"/>
                </a:solidFill>
              </a:rPr>
              <a:t>Thoharoh</a:t>
            </a:r>
            <a:r>
              <a:rPr lang="en-GB" sz="2400" b="1" dirty="0">
                <a:solidFill>
                  <a:schemeClr val="tx1"/>
                </a:solidFill>
              </a:rPr>
              <a:t>, </a:t>
            </a:r>
            <a:r>
              <a:rPr lang="en-US" sz="2400" b="1" dirty="0" err="1">
                <a:solidFill>
                  <a:schemeClr val="tx1"/>
                </a:solidFill>
              </a:rPr>
              <a:t>Sholat</a:t>
            </a:r>
            <a:r>
              <a:rPr lang="en-GB" sz="2400" b="1" dirty="0">
                <a:solidFill>
                  <a:schemeClr val="tx1"/>
                </a:solidFill>
              </a:rPr>
              <a:t> </a:t>
            </a:r>
            <a:r>
              <a:rPr lang="en-GB" sz="2400" b="1" dirty="0" err="1">
                <a:solidFill>
                  <a:schemeClr val="tx1"/>
                </a:solidFill>
              </a:rPr>
              <a:t>dan</a:t>
            </a:r>
            <a:r>
              <a:rPr lang="en-GB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Puasa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dalam</a:t>
            </a:r>
            <a:r>
              <a:rPr lang="en-US" sz="2400" b="1" dirty="0">
                <a:solidFill>
                  <a:schemeClr val="tx1"/>
                </a:solidFill>
              </a:rPr>
              <a:t> Islam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Konsep</a:t>
            </a:r>
            <a:r>
              <a:rPr lang="en-US" sz="2400" b="1" dirty="0">
                <a:solidFill>
                  <a:schemeClr val="tx1"/>
                </a:solidFill>
              </a:rPr>
              <a:t> ibadah Zakat dan</a:t>
            </a:r>
            <a:r>
              <a:rPr lang="en-GB" sz="24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Haji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UTS 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Konsep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Muamalah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dalam</a:t>
            </a:r>
            <a:r>
              <a:rPr lang="en-US" sz="2400" b="1" dirty="0">
                <a:solidFill>
                  <a:schemeClr val="tx1"/>
                </a:solidFill>
              </a:rPr>
              <a:t> Islam (</a:t>
            </a:r>
            <a:r>
              <a:rPr lang="en-US" sz="2400" b="1" dirty="0" err="1">
                <a:solidFill>
                  <a:schemeClr val="tx1"/>
                </a:solidFill>
              </a:rPr>
              <a:t>Pernikahan</a:t>
            </a:r>
            <a:r>
              <a:rPr lang="en-US" sz="2400" b="1" dirty="0">
                <a:solidFill>
                  <a:schemeClr val="tx1"/>
                </a:solidFill>
              </a:rPr>
              <a:t> &amp; </a:t>
            </a:r>
            <a:r>
              <a:rPr lang="en-US" sz="2400" b="1" dirty="0" err="1">
                <a:solidFill>
                  <a:schemeClr val="tx1"/>
                </a:solidFill>
              </a:rPr>
              <a:t>Perekonomian</a:t>
            </a:r>
            <a:r>
              <a:rPr lang="en-US" sz="2400" b="1" dirty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Makanan</a:t>
            </a:r>
            <a:r>
              <a:rPr lang="en-US" sz="2400" b="1" dirty="0">
                <a:solidFill>
                  <a:schemeClr val="tx1"/>
                </a:solidFill>
              </a:rPr>
              <a:t> dan </a:t>
            </a:r>
            <a:r>
              <a:rPr lang="en-US" sz="2400" b="1" dirty="0" err="1">
                <a:solidFill>
                  <a:schemeClr val="tx1"/>
                </a:solidFill>
              </a:rPr>
              <a:t>Minuman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dalam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Perspektif</a:t>
            </a:r>
            <a:r>
              <a:rPr lang="en-US" sz="2400" b="1" dirty="0">
                <a:solidFill>
                  <a:schemeClr val="tx1"/>
                </a:solidFill>
              </a:rPr>
              <a:t>  Islam</a:t>
            </a:r>
            <a:endParaRPr lang="en-GB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Konsep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fi-FI" sz="2400" b="1" dirty="0">
                <a:solidFill>
                  <a:schemeClr val="tx1"/>
                </a:solidFill>
              </a:rPr>
              <a:t>Etika kehidupan (Hubungan manusia dengan Tuhan, manusia dengan manusia lain dan manusia dengan alam)</a:t>
            </a:r>
            <a:endParaRPr lang="en-GB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fi-FI" sz="2400" b="1" dirty="0">
                <a:solidFill>
                  <a:schemeClr val="tx1"/>
                </a:solidFill>
              </a:rPr>
              <a:t>Implikasi Agama terhadapat pembentukan karakter manusia</a:t>
            </a:r>
            <a:endParaRPr lang="en-GB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fi-FI" sz="2400" b="1" dirty="0">
                <a:solidFill>
                  <a:schemeClr val="tx1"/>
                </a:solidFill>
              </a:rPr>
              <a:t>Nilai-nilai Tasawuf dalam Islam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Konsep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GB" sz="2400" b="1" dirty="0">
                <a:solidFill>
                  <a:schemeClr val="tx1"/>
                </a:solidFill>
              </a:rPr>
              <a:t>Amar </a:t>
            </a:r>
            <a:r>
              <a:rPr lang="en-GB" sz="2400" b="1" dirty="0" err="1">
                <a:solidFill>
                  <a:schemeClr val="tx1"/>
                </a:solidFill>
              </a:rPr>
              <a:t>Makruf</a:t>
            </a:r>
            <a:r>
              <a:rPr lang="en-GB" sz="2400" b="1" dirty="0">
                <a:solidFill>
                  <a:schemeClr val="tx1"/>
                </a:solidFill>
              </a:rPr>
              <a:t>, </a:t>
            </a:r>
            <a:r>
              <a:rPr lang="en-GB" sz="2400" b="1" dirty="0" err="1">
                <a:solidFill>
                  <a:schemeClr val="tx1"/>
                </a:solidFill>
              </a:rPr>
              <a:t>Nahyi</a:t>
            </a:r>
            <a:r>
              <a:rPr lang="en-GB" sz="2400" b="1" dirty="0">
                <a:solidFill>
                  <a:schemeClr val="tx1"/>
                </a:solidFill>
              </a:rPr>
              <a:t> </a:t>
            </a:r>
            <a:r>
              <a:rPr lang="en-GB" sz="2400" b="1" dirty="0" err="1">
                <a:solidFill>
                  <a:schemeClr val="tx1"/>
                </a:solidFill>
              </a:rPr>
              <a:t>Munkar</a:t>
            </a:r>
            <a:r>
              <a:rPr lang="en-GB" sz="2400" b="1" dirty="0">
                <a:solidFill>
                  <a:schemeClr val="tx1"/>
                </a:solidFill>
              </a:rPr>
              <a:t> dan Jihad </a:t>
            </a:r>
            <a:r>
              <a:rPr lang="en-GB" sz="2400" b="1" dirty="0" err="1">
                <a:solidFill>
                  <a:schemeClr val="tx1"/>
                </a:solidFill>
              </a:rPr>
              <a:t>dalam</a:t>
            </a:r>
            <a:r>
              <a:rPr lang="en-GB" sz="2400" b="1" dirty="0">
                <a:solidFill>
                  <a:schemeClr val="tx1"/>
                </a:solidFill>
              </a:rPr>
              <a:t> Islam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400" b="1" dirty="0">
                <a:solidFill>
                  <a:schemeClr val="tx1"/>
                </a:solidFill>
              </a:rPr>
              <a:t>Masalah-masalah kontemporer dalam Islam (Berkaitan dgn Program Studi)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UAS</a:t>
            </a:r>
          </a:p>
          <a:p>
            <a:endParaRPr lang="en-GB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0" y="63217"/>
            <a:ext cx="7239000" cy="45304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Daftar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Buku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Referensi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416" y="516264"/>
            <a:ext cx="10873208" cy="5547016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GB" dirty="0" err="1">
                <a:solidFill>
                  <a:srgbClr val="FFFF00"/>
                </a:solidFill>
              </a:rPr>
              <a:t>Quraisy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Shihab</a:t>
            </a:r>
            <a:r>
              <a:rPr lang="en-GB" dirty="0">
                <a:solidFill>
                  <a:srgbClr val="FFFF00"/>
                </a:solidFill>
              </a:rPr>
              <a:t>, M. (1996). </a:t>
            </a:r>
            <a:r>
              <a:rPr lang="en-GB" i="1" dirty="0" err="1">
                <a:solidFill>
                  <a:srgbClr val="FFFF00"/>
                </a:solidFill>
              </a:rPr>
              <a:t>Kemukjizatan</a:t>
            </a:r>
            <a:r>
              <a:rPr lang="en-GB" i="1" dirty="0">
                <a:solidFill>
                  <a:srgbClr val="FFFF00"/>
                </a:solidFill>
              </a:rPr>
              <a:t> Al-Quran. </a:t>
            </a:r>
            <a:r>
              <a:rPr lang="en-GB" dirty="0">
                <a:solidFill>
                  <a:srgbClr val="FFFF00"/>
                </a:solidFill>
              </a:rPr>
              <a:t>Bandung: </a:t>
            </a:r>
            <a:r>
              <a:rPr lang="en-GB" dirty="0" err="1">
                <a:solidFill>
                  <a:srgbClr val="FFFF00"/>
                </a:solidFill>
              </a:rPr>
              <a:t>Mizan</a:t>
            </a:r>
            <a:r>
              <a:rPr lang="en-GB" dirty="0">
                <a:solidFill>
                  <a:srgbClr val="FFFF00"/>
                </a:solidFill>
              </a:rPr>
              <a:t>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fi-FI" dirty="0">
                <a:solidFill>
                  <a:srgbClr val="FFFF00"/>
                </a:solidFill>
              </a:rPr>
              <a:t>Mudzakir Ali, Drs.MA, 2009, </a:t>
            </a:r>
            <a:r>
              <a:rPr lang="fi-FI" b="1" i="1" dirty="0">
                <a:solidFill>
                  <a:srgbClr val="FFFF00"/>
                </a:solidFill>
              </a:rPr>
              <a:t>Pengantar studi Islam</a:t>
            </a:r>
            <a:r>
              <a:rPr lang="fi-FI" i="1" dirty="0">
                <a:solidFill>
                  <a:srgbClr val="FFFF00"/>
                </a:solidFill>
              </a:rPr>
              <a:t>, </a:t>
            </a:r>
            <a:r>
              <a:rPr lang="fi-FI" dirty="0">
                <a:solidFill>
                  <a:srgbClr val="FFFF00"/>
                </a:solidFill>
              </a:rPr>
              <a:t>Semarang :  Wahid Hasyim University Press.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fi-FI" dirty="0">
                <a:solidFill>
                  <a:srgbClr val="FFFF00"/>
                </a:solidFill>
              </a:rPr>
              <a:t>Abdullah Nasihun Ulwan, </a:t>
            </a:r>
            <a:r>
              <a:rPr lang="fi-FI" b="1" i="1" dirty="0">
                <a:solidFill>
                  <a:srgbClr val="FFFF00"/>
                </a:solidFill>
              </a:rPr>
              <a:t>Tarbiyah Ruahniyah, Petunjuk Praktis Mencapai derjat Takwa</a:t>
            </a:r>
            <a:r>
              <a:rPr lang="fi-FI" dirty="0">
                <a:solidFill>
                  <a:srgbClr val="FFFF00"/>
                </a:solidFill>
              </a:rPr>
              <a:t>, diterjemahkan dari Runaiyatud-Da’iah, Penerjemah: Ajid Muslim,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Ahamad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Azhar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Basyir</a:t>
            </a:r>
            <a:r>
              <a:rPr lang="en-US" dirty="0">
                <a:solidFill>
                  <a:srgbClr val="FFFF00"/>
                </a:solidFill>
              </a:rPr>
              <a:t>, 1982, </a:t>
            </a:r>
            <a:r>
              <a:rPr lang="en-US" b="1" i="1" dirty="0">
                <a:solidFill>
                  <a:srgbClr val="FFFF00"/>
                </a:solidFill>
              </a:rPr>
              <a:t>Citra </a:t>
            </a:r>
            <a:r>
              <a:rPr lang="en-US" b="1" i="1" dirty="0" err="1">
                <a:solidFill>
                  <a:srgbClr val="FFFF00"/>
                </a:solidFill>
              </a:rPr>
              <a:t>Manusia</a:t>
            </a:r>
            <a:r>
              <a:rPr lang="en-US" b="1" i="1" dirty="0">
                <a:solidFill>
                  <a:srgbClr val="FFFF00"/>
                </a:solidFill>
              </a:rPr>
              <a:t> Muslim</a:t>
            </a:r>
            <a:r>
              <a:rPr lang="en-US" dirty="0">
                <a:solidFill>
                  <a:srgbClr val="FFFF00"/>
                </a:solidFill>
              </a:rPr>
              <a:t>, Yogyakarta, BPFH, UII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Ahamad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Azhar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Basyir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Filsafat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Ibadah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dalam</a:t>
            </a:r>
            <a:r>
              <a:rPr lang="en-US" b="1" i="1" dirty="0">
                <a:solidFill>
                  <a:srgbClr val="FFFF00"/>
                </a:solidFill>
              </a:rPr>
              <a:t> Islam</a:t>
            </a:r>
            <a:r>
              <a:rPr lang="en-US" dirty="0">
                <a:solidFill>
                  <a:srgbClr val="FFFF00"/>
                </a:solidFill>
              </a:rPr>
              <a:t>, Yogyakarta, BPFH UII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Ahamad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Tirto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Sudiro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dalam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Wiwoho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dkk</a:t>
            </a:r>
            <a:r>
              <a:rPr lang="en-US" dirty="0">
                <a:solidFill>
                  <a:srgbClr val="FFFF00"/>
                </a:solidFill>
              </a:rPr>
              <a:t>, (edit), 1992, </a:t>
            </a:r>
            <a:r>
              <a:rPr lang="en-US" b="1" i="1" dirty="0">
                <a:solidFill>
                  <a:srgbClr val="FFFF00"/>
                </a:solidFill>
              </a:rPr>
              <a:t>Zakat </a:t>
            </a:r>
            <a:r>
              <a:rPr lang="en-US" b="1" i="1" dirty="0" err="1">
                <a:solidFill>
                  <a:srgbClr val="FFFF00"/>
                </a:solidFill>
              </a:rPr>
              <a:t>dan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pajak</a:t>
            </a:r>
            <a:r>
              <a:rPr lang="en-US" dirty="0">
                <a:solidFill>
                  <a:srgbClr val="FFFF00"/>
                </a:solidFill>
              </a:rPr>
              <a:t>, Jakarta, </a:t>
            </a:r>
            <a:r>
              <a:rPr lang="en-US" dirty="0" err="1">
                <a:solidFill>
                  <a:srgbClr val="FFFF00"/>
                </a:solidFill>
              </a:rPr>
              <a:t>Bina</a:t>
            </a:r>
            <a:r>
              <a:rPr lang="en-US" dirty="0">
                <a:solidFill>
                  <a:srgbClr val="FFFF00"/>
                </a:solidFill>
              </a:rPr>
              <a:t> Rena </a:t>
            </a:r>
            <a:r>
              <a:rPr lang="en-US" dirty="0" err="1">
                <a:solidFill>
                  <a:srgbClr val="FFFF00"/>
                </a:solidFill>
              </a:rPr>
              <a:t>Pariwara</a:t>
            </a:r>
            <a:r>
              <a:rPr lang="en-US" dirty="0">
                <a:solidFill>
                  <a:srgbClr val="FFFF00"/>
                </a:solidFill>
              </a:rPr>
              <a:t> 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00"/>
                </a:solidFill>
              </a:rPr>
              <a:t>Ahmad </a:t>
            </a:r>
            <a:r>
              <a:rPr lang="en-US" dirty="0" err="1">
                <a:solidFill>
                  <a:srgbClr val="FFFF00"/>
                </a:solidFill>
              </a:rPr>
              <a:t>Azhar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Basyir</a:t>
            </a:r>
            <a:r>
              <a:rPr lang="en-US" dirty="0">
                <a:solidFill>
                  <a:srgbClr val="FFFF00"/>
                </a:solidFill>
              </a:rPr>
              <a:t>, 2000</a:t>
            </a:r>
            <a:r>
              <a:rPr lang="en-US" b="1" i="1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Pokok-pokok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persoalan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filsafat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hukum</a:t>
            </a:r>
            <a:r>
              <a:rPr lang="en-US" b="1" i="1" dirty="0">
                <a:solidFill>
                  <a:srgbClr val="FFFF00"/>
                </a:solidFill>
              </a:rPr>
              <a:t> Islam</a:t>
            </a:r>
            <a:r>
              <a:rPr lang="en-US" dirty="0">
                <a:solidFill>
                  <a:srgbClr val="FFFF00"/>
                </a:solidFill>
              </a:rPr>
              <a:t>, UII Press, Yogyakarta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00"/>
                </a:solidFill>
              </a:rPr>
              <a:t>Ahmad </a:t>
            </a:r>
            <a:r>
              <a:rPr lang="en-US" dirty="0" err="1">
                <a:solidFill>
                  <a:srgbClr val="FFFF00"/>
                </a:solidFill>
              </a:rPr>
              <a:t>Musthafa</a:t>
            </a:r>
            <a:r>
              <a:rPr lang="en-US" dirty="0">
                <a:solidFill>
                  <a:srgbClr val="FFFF00"/>
                </a:solidFill>
              </a:rPr>
              <a:t> al-</a:t>
            </a:r>
            <a:r>
              <a:rPr lang="en-US" dirty="0" err="1">
                <a:solidFill>
                  <a:srgbClr val="FFFF00"/>
                </a:solidFill>
              </a:rPr>
              <a:t>Maraghi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Tafsir</a:t>
            </a:r>
            <a:r>
              <a:rPr lang="en-US" b="1" i="1" dirty="0">
                <a:solidFill>
                  <a:srgbClr val="FFFF00"/>
                </a:solidFill>
              </a:rPr>
              <a:t> al-</a:t>
            </a:r>
            <a:r>
              <a:rPr lang="en-US" b="1" i="1" dirty="0" err="1">
                <a:solidFill>
                  <a:srgbClr val="FFFF00"/>
                </a:solidFill>
              </a:rPr>
              <a:t>Maraghi</a:t>
            </a:r>
            <a:r>
              <a:rPr lang="en-US" i="1" dirty="0">
                <a:solidFill>
                  <a:srgbClr val="FFFF00"/>
                </a:solidFill>
              </a:rPr>
              <a:t>,</a:t>
            </a:r>
            <a:r>
              <a:rPr lang="en-US" dirty="0">
                <a:solidFill>
                  <a:srgbClr val="FFFF00"/>
                </a:solidFill>
              </a:rPr>
              <a:t> (</a:t>
            </a:r>
            <a:r>
              <a:rPr lang="en-US" dirty="0" err="1">
                <a:solidFill>
                  <a:srgbClr val="FFFF00"/>
                </a:solidFill>
              </a:rPr>
              <a:t>Edisi</a:t>
            </a:r>
            <a:r>
              <a:rPr lang="en-US" dirty="0">
                <a:solidFill>
                  <a:srgbClr val="FFFF00"/>
                </a:solidFill>
              </a:rPr>
              <a:t> Indonesia), </a:t>
            </a:r>
            <a:r>
              <a:rPr lang="en-US" dirty="0" err="1">
                <a:solidFill>
                  <a:srgbClr val="FFFF00"/>
                </a:solidFill>
              </a:rPr>
              <a:t>Toha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Putera</a:t>
            </a:r>
            <a:r>
              <a:rPr lang="en-US" dirty="0">
                <a:solidFill>
                  <a:srgbClr val="FFFF00"/>
                </a:solidFill>
              </a:rPr>
              <a:t>, Semarang, 1993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00"/>
                </a:solidFill>
              </a:rPr>
              <a:t>Ahmad </a:t>
            </a:r>
            <a:r>
              <a:rPr lang="en-US" dirty="0" err="1">
                <a:solidFill>
                  <a:srgbClr val="FFFF00"/>
                </a:solidFill>
              </a:rPr>
              <a:t>Suyuthi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Nuansa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Ramadhan</a:t>
            </a:r>
            <a:r>
              <a:rPr lang="en-US" b="1" i="1" dirty="0">
                <a:solidFill>
                  <a:srgbClr val="FFFF00"/>
                </a:solidFill>
              </a:rPr>
              <a:t>: </a:t>
            </a:r>
            <a:r>
              <a:rPr lang="en-US" b="1" i="1" dirty="0" err="1">
                <a:solidFill>
                  <a:srgbClr val="FFFF00"/>
                </a:solidFill>
              </a:rPr>
              <a:t>Puasa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dan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Lebaran</a:t>
            </a:r>
            <a:r>
              <a:rPr lang="en-US" b="1" i="1" dirty="0">
                <a:solidFill>
                  <a:srgbClr val="FFFF00"/>
                </a:solidFill>
              </a:rPr>
              <a:t>,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Pustaka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Amani</a:t>
            </a:r>
            <a:r>
              <a:rPr lang="en-US" dirty="0">
                <a:solidFill>
                  <a:srgbClr val="FFFF00"/>
                </a:solidFill>
              </a:rPr>
              <a:t>, Jakarta, 1996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00"/>
                </a:solidFill>
              </a:rPr>
              <a:t>As-</a:t>
            </a:r>
            <a:r>
              <a:rPr lang="en-US" dirty="0" err="1">
                <a:solidFill>
                  <a:srgbClr val="FFFF00"/>
                </a:solidFill>
              </a:rPr>
              <a:t>Sayyid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Sabiq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Fiqh</a:t>
            </a:r>
            <a:r>
              <a:rPr lang="en-US" b="1" i="1" dirty="0">
                <a:solidFill>
                  <a:srgbClr val="FFFF00"/>
                </a:solidFill>
              </a:rPr>
              <a:t> al-</a:t>
            </a:r>
            <a:r>
              <a:rPr lang="en-US" b="1" i="1" dirty="0" err="1">
                <a:solidFill>
                  <a:srgbClr val="FFFF00"/>
                </a:solidFill>
              </a:rPr>
              <a:t>Sunnah</a:t>
            </a:r>
            <a:r>
              <a:rPr lang="en-US" i="1" dirty="0">
                <a:solidFill>
                  <a:srgbClr val="FFFF00"/>
                </a:solidFill>
              </a:rPr>
              <a:t>, </a:t>
            </a:r>
            <a:r>
              <a:rPr lang="en-US" dirty="0">
                <a:solidFill>
                  <a:srgbClr val="FFFF00"/>
                </a:solidFill>
              </a:rPr>
              <a:t>Dar al-Jail, Beirut, 1995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Dja’far</a:t>
            </a:r>
            <a:r>
              <a:rPr lang="en-US" dirty="0">
                <a:solidFill>
                  <a:srgbClr val="FFFF00"/>
                </a:solidFill>
              </a:rPr>
              <a:t> Amir, 1994, </a:t>
            </a:r>
            <a:r>
              <a:rPr lang="en-US" b="1" i="1" dirty="0" err="1">
                <a:solidFill>
                  <a:srgbClr val="FFFF00"/>
                </a:solidFill>
              </a:rPr>
              <a:t>Tuntunan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Shalat</a:t>
            </a:r>
            <a:r>
              <a:rPr lang="en-US" dirty="0">
                <a:solidFill>
                  <a:srgbClr val="FFFF00"/>
                </a:solidFill>
              </a:rPr>
              <a:t>, Yogyakarta, Kota </a:t>
            </a:r>
            <a:r>
              <a:rPr lang="en-US" dirty="0" err="1">
                <a:solidFill>
                  <a:srgbClr val="FFFF00"/>
                </a:solidFill>
              </a:rPr>
              <a:t>Kembang</a:t>
            </a:r>
            <a:r>
              <a:rPr lang="en-US" dirty="0">
                <a:solidFill>
                  <a:srgbClr val="FFFF00"/>
                </a:solidFill>
              </a:rPr>
              <a:t> 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Endang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saefudin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anshari</a:t>
            </a:r>
            <a:r>
              <a:rPr lang="en-US" dirty="0">
                <a:solidFill>
                  <a:srgbClr val="FFFF00"/>
                </a:solidFill>
              </a:rPr>
              <a:t>, 1990</a:t>
            </a:r>
            <a:r>
              <a:rPr lang="en-US" b="1" i="1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wawasan</a:t>
            </a:r>
            <a:r>
              <a:rPr lang="en-US" b="1" i="1" dirty="0">
                <a:solidFill>
                  <a:srgbClr val="FFFF00"/>
                </a:solidFill>
              </a:rPr>
              <a:t> Islam</a:t>
            </a:r>
            <a:r>
              <a:rPr lang="en-US" dirty="0">
                <a:solidFill>
                  <a:srgbClr val="FFFF00"/>
                </a:solidFill>
              </a:rPr>
              <a:t>, Jakarta, </a:t>
            </a:r>
            <a:r>
              <a:rPr lang="en-US" dirty="0" err="1">
                <a:solidFill>
                  <a:srgbClr val="FFFF00"/>
                </a:solidFill>
              </a:rPr>
              <a:t>rajawali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Pers</a:t>
            </a:r>
            <a:r>
              <a:rPr lang="en-US" dirty="0">
                <a:solidFill>
                  <a:srgbClr val="FFFF00"/>
                </a:solidFill>
              </a:rPr>
              <a:t> 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Harun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Nasution</a:t>
            </a:r>
            <a:r>
              <a:rPr lang="en-US" dirty="0">
                <a:solidFill>
                  <a:srgbClr val="FFFF00"/>
                </a:solidFill>
              </a:rPr>
              <a:t>, 1985</a:t>
            </a:r>
            <a:r>
              <a:rPr lang="en-US" b="1" i="1" dirty="0">
                <a:solidFill>
                  <a:srgbClr val="FFFF00"/>
                </a:solidFill>
              </a:rPr>
              <a:t>, Islam </a:t>
            </a:r>
            <a:r>
              <a:rPr lang="en-US" b="1" i="1" dirty="0" err="1">
                <a:solidFill>
                  <a:srgbClr val="FFFF00"/>
                </a:solidFill>
              </a:rPr>
              <a:t>ditinjau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dari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berbagai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aspeknya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Jilid</a:t>
            </a:r>
            <a:r>
              <a:rPr lang="en-US" b="1" i="1" dirty="0">
                <a:solidFill>
                  <a:srgbClr val="FFFF00"/>
                </a:solidFill>
              </a:rPr>
              <a:t> I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Universitas</a:t>
            </a:r>
            <a:r>
              <a:rPr lang="en-US" dirty="0">
                <a:solidFill>
                  <a:srgbClr val="FFFF00"/>
                </a:solidFill>
              </a:rPr>
              <a:t> Indonesia (UI Press), Jakarta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Hsbi</a:t>
            </a:r>
            <a:r>
              <a:rPr lang="en-US" dirty="0">
                <a:solidFill>
                  <a:srgbClr val="FFFF00"/>
                </a:solidFill>
              </a:rPr>
              <a:t> Ash-</a:t>
            </a:r>
            <a:r>
              <a:rPr lang="en-US" dirty="0" err="1">
                <a:solidFill>
                  <a:srgbClr val="FFFF00"/>
                </a:solidFill>
              </a:rPr>
              <a:t>Shiddiqy</a:t>
            </a:r>
            <a:r>
              <a:rPr lang="en-US" dirty="0">
                <a:solidFill>
                  <a:srgbClr val="FFFF00"/>
                </a:solidFill>
              </a:rPr>
              <a:t>, 1954, </a:t>
            </a:r>
            <a:r>
              <a:rPr lang="en-US" b="1" i="1" dirty="0" err="1">
                <a:solidFill>
                  <a:srgbClr val="FFFF00"/>
                </a:solidFill>
              </a:rPr>
              <a:t>Kuliah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Ibadah</a:t>
            </a:r>
            <a:r>
              <a:rPr lang="en-US" b="1" i="1" dirty="0">
                <a:solidFill>
                  <a:srgbClr val="FFFF00"/>
                </a:solidFill>
              </a:rPr>
              <a:t>: </a:t>
            </a:r>
            <a:r>
              <a:rPr lang="en-US" b="1" i="1" dirty="0" err="1">
                <a:solidFill>
                  <a:srgbClr val="FFFF00"/>
                </a:solidFill>
              </a:rPr>
              <a:t>ibadah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ditinjau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dari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segi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Hukum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dan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Hikmah</a:t>
            </a:r>
            <a:r>
              <a:rPr lang="en-US" dirty="0">
                <a:solidFill>
                  <a:srgbClr val="FFFF00"/>
                </a:solidFill>
              </a:rPr>
              <a:t>, Jakarta, </a:t>
            </a:r>
            <a:r>
              <a:rPr lang="en-US" dirty="0" err="1">
                <a:solidFill>
                  <a:srgbClr val="FFFF00"/>
                </a:solidFill>
              </a:rPr>
              <a:t>Bulan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Bintang</a:t>
            </a:r>
            <a:r>
              <a:rPr lang="en-US" dirty="0">
                <a:solidFill>
                  <a:srgbClr val="FFFF00"/>
                </a:solidFill>
              </a:rPr>
              <a:t> 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Hsbi</a:t>
            </a:r>
            <a:r>
              <a:rPr lang="en-US" dirty="0">
                <a:solidFill>
                  <a:srgbClr val="FFFF00"/>
                </a:solidFill>
              </a:rPr>
              <a:t> Ash-</a:t>
            </a:r>
            <a:r>
              <a:rPr lang="en-US" dirty="0" err="1">
                <a:solidFill>
                  <a:srgbClr val="FFFF00"/>
                </a:solidFill>
              </a:rPr>
              <a:t>Shiddiqy</a:t>
            </a:r>
            <a:r>
              <a:rPr lang="en-US" dirty="0">
                <a:solidFill>
                  <a:srgbClr val="FFFF00"/>
                </a:solidFill>
              </a:rPr>
              <a:t>, 1973</a:t>
            </a:r>
            <a:r>
              <a:rPr lang="en-US" b="1" i="1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Pedoman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Puasa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Bulan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Bintang</a:t>
            </a:r>
            <a:r>
              <a:rPr lang="en-US" dirty="0">
                <a:solidFill>
                  <a:srgbClr val="FFFF00"/>
                </a:solidFill>
              </a:rPr>
              <a:t>, Jakarta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Hsbi</a:t>
            </a:r>
            <a:r>
              <a:rPr lang="en-US" dirty="0">
                <a:solidFill>
                  <a:srgbClr val="FFFF00"/>
                </a:solidFill>
              </a:rPr>
              <a:t> Ash-</a:t>
            </a:r>
            <a:r>
              <a:rPr lang="en-US" dirty="0" err="1">
                <a:solidFill>
                  <a:srgbClr val="FFFF00"/>
                </a:solidFill>
              </a:rPr>
              <a:t>Shiddiqy</a:t>
            </a:r>
            <a:r>
              <a:rPr lang="en-US" dirty="0">
                <a:solidFill>
                  <a:srgbClr val="FFFF00"/>
                </a:solidFill>
              </a:rPr>
              <a:t>, 1978</a:t>
            </a:r>
            <a:r>
              <a:rPr lang="en-US" b="1" i="1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Pedoman</a:t>
            </a:r>
            <a:r>
              <a:rPr lang="en-US" b="1" i="1" dirty="0">
                <a:solidFill>
                  <a:srgbClr val="FFFF00"/>
                </a:solidFill>
              </a:rPr>
              <a:t> haji </a:t>
            </a:r>
            <a:r>
              <a:rPr lang="en-US" dirty="0" err="1">
                <a:solidFill>
                  <a:srgbClr val="FFFF00"/>
                </a:solidFill>
              </a:rPr>
              <a:t>Bulan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Bintang</a:t>
            </a:r>
            <a:r>
              <a:rPr lang="en-US" dirty="0">
                <a:solidFill>
                  <a:srgbClr val="FFFF00"/>
                </a:solidFill>
              </a:rPr>
              <a:t>, Jakarta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Hsbi</a:t>
            </a:r>
            <a:r>
              <a:rPr lang="en-US" dirty="0">
                <a:solidFill>
                  <a:srgbClr val="FFFF00"/>
                </a:solidFill>
              </a:rPr>
              <a:t> Ash-</a:t>
            </a:r>
            <a:r>
              <a:rPr lang="en-US" dirty="0" err="1">
                <a:solidFill>
                  <a:srgbClr val="FFFF00"/>
                </a:solidFill>
              </a:rPr>
              <a:t>Shiddiqy</a:t>
            </a:r>
            <a:r>
              <a:rPr lang="en-US" dirty="0">
                <a:solidFill>
                  <a:srgbClr val="FFFF00"/>
                </a:solidFill>
              </a:rPr>
              <a:t>, 1981, </a:t>
            </a:r>
            <a:r>
              <a:rPr lang="en-US" b="1" i="1" dirty="0" err="1">
                <a:solidFill>
                  <a:srgbClr val="FFFF00"/>
                </a:solidFill>
              </a:rPr>
              <a:t>Pedoman</a:t>
            </a:r>
            <a:r>
              <a:rPr lang="en-US" b="1" i="1" dirty="0">
                <a:solidFill>
                  <a:srgbClr val="FFFF00"/>
                </a:solidFill>
              </a:rPr>
              <a:t> zakat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Bulan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Bintang</a:t>
            </a:r>
            <a:r>
              <a:rPr lang="en-US" dirty="0">
                <a:solidFill>
                  <a:srgbClr val="FFFF00"/>
                </a:solidFill>
              </a:rPr>
              <a:t>, Jakarta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Ibnu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hajar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Asqalani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b="1" i="1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Bulug</a:t>
            </a:r>
            <a:r>
              <a:rPr lang="en-US" b="1" i="1" dirty="0">
                <a:solidFill>
                  <a:srgbClr val="FFFF00"/>
                </a:solidFill>
              </a:rPr>
              <a:t> al- </a:t>
            </a:r>
            <a:r>
              <a:rPr lang="en-US" b="1" i="1" dirty="0" err="1">
                <a:solidFill>
                  <a:srgbClr val="FFFF00"/>
                </a:solidFill>
              </a:rPr>
              <a:t>Maram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bandung</a:t>
            </a:r>
            <a:r>
              <a:rPr lang="en-US" dirty="0">
                <a:solidFill>
                  <a:srgbClr val="FFFF00"/>
                </a:solidFill>
              </a:rPr>
              <a:t>, Al-</a:t>
            </a:r>
            <a:r>
              <a:rPr lang="en-US" dirty="0" err="1">
                <a:solidFill>
                  <a:srgbClr val="FFFF00"/>
                </a:solidFill>
              </a:rPr>
              <a:t>ma’arif</a:t>
            </a:r>
            <a:r>
              <a:rPr lang="en-US" dirty="0">
                <a:solidFill>
                  <a:srgbClr val="FFFF00"/>
                </a:solidFill>
              </a:rPr>
              <a:t> 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Ibnu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Qudamah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b="1" i="1" dirty="0" err="1">
                <a:solidFill>
                  <a:srgbClr val="FFFF00"/>
                </a:solidFill>
              </a:rPr>
              <a:t>Minhajul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Qashidin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dirty="0">
                <a:solidFill>
                  <a:srgbClr val="FFFF00"/>
                </a:solidFill>
              </a:rPr>
              <a:t>(</a:t>
            </a:r>
            <a:r>
              <a:rPr lang="en-US" dirty="0" err="1">
                <a:solidFill>
                  <a:srgbClr val="FFFF00"/>
                </a:solidFill>
              </a:rPr>
              <a:t>Terjemah</a:t>
            </a:r>
            <a:r>
              <a:rPr lang="en-US" dirty="0">
                <a:solidFill>
                  <a:srgbClr val="FFFF00"/>
                </a:solidFill>
              </a:rPr>
              <a:t>: </a:t>
            </a:r>
            <a:r>
              <a:rPr lang="en-US" dirty="0" err="1">
                <a:solidFill>
                  <a:srgbClr val="FFFF00"/>
                </a:solidFill>
              </a:rPr>
              <a:t>Kathur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Suhardi</a:t>
            </a:r>
            <a:r>
              <a:rPr lang="en-US" dirty="0">
                <a:solidFill>
                  <a:srgbClr val="FFFF00"/>
                </a:solidFill>
              </a:rPr>
              <a:t>), </a:t>
            </a:r>
            <a:r>
              <a:rPr lang="en-US" dirty="0" err="1">
                <a:solidFill>
                  <a:srgbClr val="FFFF00"/>
                </a:solidFill>
              </a:rPr>
              <a:t>Pustaka</a:t>
            </a:r>
            <a:r>
              <a:rPr lang="en-US" dirty="0">
                <a:solidFill>
                  <a:srgbClr val="FFFF00"/>
                </a:solidFill>
              </a:rPr>
              <a:t> al-</a:t>
            </a:r>
            <a:r>
              <a:rPr lang="en-US" dirty="0" err="1">
                <a:solidFill>
                  <a:srgbClr val="FFFF00"/>
                </a:solidFill>
              </a:rPr>
              <a:t>Kautsar</a:t>
            </a:r>
            <a:r>
              <a:rPr lang="en-US" dirty="0">
                <a:solidFill>
                  <a:srgbClr val="FFFF00"/>
                </a:solidFill>
              </a:rPr>
              <a:t>, Jakarta, 1997,</a:t>
            </a:r>
            <a:endParaRPr lang="en-GB" dirty="0">
              <a:solidFill>
                <a:srgbClr val="FFFF0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FFFF00"/>
                </a:solidFill>
              </a:rPr>
              <a:t>Imam </a:t>
            </a:r>
            <a:r>
              <a:rPr lang="en-US" dirty="0" err="1">
                <a:solidFill>
                  <a:srgbClr val="FFFF00"/>
                </a:solidFill>
              </a:rPr>
              <a:t>Ghazali</a:t>
            </a:r>
            <a:r>
              <a:rPr lang="en-US" dirty="0">
                <a:solidFill>
                  <a:srgbClr val="FFFF00"/>
                </a:solidFill>
              </a:rPr>
              <a:t>, 1995,  </a:t>
            </a:r>
            <a:r>
              <a:rPr lang="en-US" b="1" i="1" dirty="0" err="1">
                <a:solidFill>
                  <a:srgbClr val="FFFF00"/>
                </a:solidFill>
              </a:rPr>
              <a:t>Raudhah</a:t>
            </a:r>
            <a:r>
              <a:rPr lang="en-US" dirty="0">
                <a:solidFill>
                  <a:srgbClr val="FFFF00"/>
                </a:solidFill>
              </a:rPr>
              <a:t>; </a:t>
            </a:r>
            <a:r>
              <a:rPr lang="en-US" b="1" i="1" dirty="0">
                <a:solidFill>
                  <a:srgbClr val="FFFF00"/>
                </a:solidFill>
              </a:rPr>
              <a:t>Taman </a:t>
            </a:r>
            <a:r>
              <a:rPr lang="en-US" b="1" i="1" dirty="0" err="1">
                <a:solidFill>
                  <a:srgbClr val="FFFF00"/>
                </a:solidFill>
              </a:rPr>
              <a:t>jiwa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kaum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sufi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diterjemahkan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dari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Raudhatu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Tahlibien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wa</a:t>
            </a:r>
            <a:r>
              <a:rPr lang="en-US" b="1" i="1" dirty="0">
                <a:solidFill>
                  <a:srgbClr val="FFFF00"/>
                </a:solidFill>
              </a:rPr>
              <a:t> ‘</a:t>
            </a:r>
            <a:r>
              <a:rPr lang="en-US" b="1" i="1" dirty="0" err="1">
                <a:solidFill>
                  <a:srgbClr val="FFFF00"/>
                </a:solidFill>
              </a:rPr>
              <a:t>Umdatus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  <a:r>
              <a:rPr lang="en-US" b="1" i="1" dirty="0" err="1">
                <a:solidFill>
                  <a:srgbClr val="FFFF00"/>
                </a:solidFill>
              </a:rPr>
              <a:t>Saalikien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Penterjemah</a:t>
            </a:r>
            <a:r>
              <a:rPr lang="en-US" dirty="0">
                <a:solidFill>
                  <a:srgbClr val="FFFF00"/>
                </a:solidFill>
              </a:rPr>
              <a:t>: </a:t>
            </a:r>
            <a:r>
              <a:rPr lang="en-US" dirty="0" err="1">
                <a:solidFill>
                  <a:srgbClr val="FFFF00"/>
                </a:solidFill>
              </a:rPr>
              <a:t>Moh</a:t>
            </a:r>
            <a:r>
              <a:rPr lang="en-US" dirty="0">
                <a:solidFill>
                  <a:srgbClr val="FFFF00"/>
                </a:solidFill>
              </a:rPr>
              <a:t>. </a:t>
            </a:r>
            <a:r>
              <a:rPr lang="en-US" dirty="0" err="1">
                <a:solidFill>
                  <a:srgbClr val="FFFF00"/>
                </a:solidFill>
              </a:rPr>
              <a:t>Lukman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Hakiem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Risalah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Gusti</a:t>
            </a:r>
            <a:r>
              <a:rPr lang="en-US" dirty="0">
                <a:solidFill>
                  <a:srgbClr val="FFFF00"/>
                </a:solidFill>
              </a:rPr>
              <a:t>, Surabaya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rgbClr val="FFFF00"/>
                </a:solidFill>
              </a:rPr>
              <a:t>Dll</a:t>
            </a:r>
            <a:r>
              <a:rPr lang="en-US" dirty="0">
                <a:solidFill>
                  <a:srgbClr val="FFFF00"/>
                </a:solidFill>
              </a:rPr>
              <a:t>. 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18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schemeClr val="bg1"/>
                </a:solidFill>
              </a:rPr>
              <a:t>Kretia 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4" y="1700808"/>
            <a:ext cx="9905999" cy="4824536"/>
          </a:xfrm>
        </p:spPr>
        <p:txBody>
          <a:bodyPr>
            <a:normAutofit fontScale="55000" lnSpcReduction="20000"/>
          </a:bodyPr>
          <a:lstStyle/>
          <a:p>
            <a:endParaRPr lang="id-ID" sz="2000" dirty="0"/>
          </a:p>
          <a:p>
            <a:pPr marL="0" indent="0">
              <a:buNone/>
            </a:pPr>
            <a:r>
              <a:rPr lang="id-ID" sz="5100" dirty="0"/>
              <a:t>Dalam menentukan nilai akhir akan digunakan pembobotan sebagai berikut :</a:t>
            </a:r>
          </a:p>
          <a:p>
            <a:endParaRPr lang="id-ID" sz="5100" dirty="0"/>
          </a:p>
          <a:p>
            <a:r>
              <a:rPr lang="fi-FI" sz="5100" dirty="0"/>
              <a:t>UTS ....................................</a:t>
            </a:r>
            <a:r>
              <a:rPr lang="id-ID" sz="5100" dirty="0"/>
              <a:t>.....</a:t>
            </a:r>
            <a:r>
              <a:rPr lang="fi-FI" sz="5100" dirty="0"/>
              <a:t>. </a:t>
            </a:r>
            <a:r>
              <a:rPr lang="id-ID" sz="5100" dirty="0"/>
              <a:t>20 </a:t>
            </a:r>
            <a:r>
              <a:rPr lang="fi-FI" sz="5100" dirty="0"/>
              <a:t>%</a:t>
            </a:r>
            <a:endParaRPr lang="id-ID" sz="5100" dirty="0"/>
          </a:p>
          <a:p>
            <a:r>
              <a:rPr lang="fi-FI" sz="5100" dirty="0"/>
              <a:t>UAS ..........................................</a:t>
            </a:r>
            <a:r>
              <a:rPr lang="id-ID" sz="5100" dirty="0"/>
              <a:t> 25 </a:t>
            </a:r>
            <a:r>
              <a:rPr lang="fi-FI" sz="5100" dirty="0"/>
              <a:t>%</a:t>
            </a:r>
            <a:endParaRPr lang="id-ID" sz="5100" dirty="0"/>
          </a:p>
          <a:p>
            <a:r>
              <a:rPr lang="id-ID" sz="5100" dirty="0"/>
              <a:t>T</a:t>
            </a:r>
            <a:r>
              <a:rPr lang="fi-FI" sz="5100" dirty="0"/>
              <a:t>ugas </a:t>
            </a:r>
            <a:r>
              <a:rPr lang="id-ID" sz="5100" dirty="0"/>
              <a:t> Kelompok.......................15 </a:t>
            </a:r>
            <a:r>
              <a:rPr lang="fi-FI" sz="5100" dirty="0"/>
              <a:t>%</a:t>
            </a:r>
            <a:endParaRPr lang="id-ID" sz="5100" dirty="0"/>
          </a:p>
          <a:p>
            <a:r>
              <a:rPr lang="id-ID" sz="5100" dirty="0"/>
              <a:t>Partisipasi..................................15 %</a:t>
            </a:r>
          </a:p>
          <a:p>
            <a:r>
              <a:rPr lang="fi-FI" sz="5100" dirty="0"/>
              <a:t>Kehadiran ..............................</a:t>
            </a:r>
            <a:r>
              <a:rPr lang="id-ID" sz="5100" dirty="0"/>
              <a:t>... 25 </a:t>
            </a:r>
            <a:r>
              <a:rPr lang="fi-FI" sz="5100" dirty="0"/>
              <a:t>%</a:t>
            </a:r>
            <a:endParaRPr lang="id-ID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9EFD-7398-AB15-8FCB-7B6D822F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15AF7-F0DC-D59D-5538-1D538FEC8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3" descr="F:\IMAM KU\2017\DATA FAI\KONTRAK KULIAH\KONTRAK KULIAH FEBRUARI 2020 GENAP\ILMU TAFSIR\sekian-terimakasih-white.gif">
            <a:extLst>
              <a:ext uri="{FF2B5EF4-FFF2-40B4-BE49-F238E27FC236}">
                <a16:creationId xmlns:a16="http://schemas.microsoft.com/office/drawing/2014/main" id="{A3B70E9E-1299-EDC3-7F9B-AE229A1BFCF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44" y="1061208"/>
            <a:ext cx="10422738" cy="461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7136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C25A91B-1E9B-46EC-BC1B-791816BE21B2}" vid="{BE20649B-6A41-428E-9C7E-FE24A76A47EA}"/>
    </a:ext>
  </a:extLst>
</a:theme>
</file>

<file path=ppt/theme/theme2.xml><?xml version="1.0" encoding="utf-8"?>
<a:theme xmlns:a="http://schemas.openxmlformats.org/drawingml/2006/main" name="Theme2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BA4AC98A-84CC-427B-AE53-958B9091B29B}" vid="{32566D84-C39E-4678-9489-642F7D5ED4B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7635</TotalTime>
  <Words>609</Words>
  <Application>Microsoft Office PowerPoint</Application>
  <PresentationFormat>Widescreen</PresentationFormat>
  <Paragraphs>63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Tw Cen MT</vt:lpstr>
      <vt:lpstr>Theme1</vt:lpstr>
      <vt:lpstr>Theme2</vt:lpstr>
      <vt:lpstr>Silabus &amp; kontrak perkuliahan PENDIDIKAN AGAMA</vt:lpstr>
      <vt:lpstr>pengantar</vt:lpstr>
      <vt:lpstr>PowerPoint Presentation</vt:lpstr>
      <vt:lpstr>Topik pembahasan</vt:lpstr>
      <vt:lpstr>Daftar Buku/Referensi</vt:lpstr>
      <vt:lpstr>Kretia penilaian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SUPERVISI PENDIDIKAN</dc:title>
  <dc:creator>Win7</dc:creator>
  <cp:lastModifiedBy>imam ku</cp:lastModifiedBy>
  <cp:revision>398</cp:revision>
  <dcterms:created xsi:type="dcterms:W3CDTF">2012-03-22T21:24:41Z</dcterms:created>
  <dcterms:modified xsi:type="dcterms:W3CDTF">2024-10-02T04:27:58Z</dcterms:modified>
</cp:coreProperties>
</file>