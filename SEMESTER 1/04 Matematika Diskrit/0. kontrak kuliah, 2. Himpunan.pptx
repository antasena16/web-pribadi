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257" r:id="rId4"/>
    <p:sldId id="260" r:id="rId5"/>
    <p:sldId id="263" r:id="rId6"/>
    <p:sldId id="264" r:id="rId7"/>
    <p:sldId id="259" r:id="rId8"/>
    <p:sldId id="266" r:id="rId9"/>
    <p:sldId id="270" r:id="rId10"/>
    <p:sldId id="272" r:id="rId11"/>
    <p:sldId id="273" r:id="rId12"/>
    <p:sldId id="274" r:id="rId13"/>
    <p:sldId id="271" r:id="rId14"/>
    <p:sldId id="276" r:id="rId15"/>
    <p:sldId id="277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FF4B2-585F-4120-85B9-807B01E7A0F3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4E81B-2517-4488-9D2F-2DC2619186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289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EEB2166-D82B-4F14-9CBE-9EE46482B3CF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78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7" y="92869"/>
            <a:ext cx="1828800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53" y="6356350"/>
            <a:ext cx="235857" cy="235857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513581" y="6291715"/>
            <a:ext cx="1974573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http://TI.UNWAHAS.AC.ID</a:t>
            </a:r>
            <a:endParaRPr lang="en-GB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2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BD8F-E588-44C2-82D3-28181CEEE4A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72" y="185738"/>
            <a:ext cx="1828800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53" y="6356350"/>
            <a:ext cx="235857" cy="235857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513581" y="6291715"/>
            <a:ext cx="1974573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http://TI.UNWAHAS.AC.ID</a:t>
            </a:r>
            <a:endParaRPr lang="en-GB" sz="1200" dirty="0">
              <a:solidFill>
                <a:srgbClr val="FF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576207">
            <a:off x="10242938" y="5390410"/>
            <a:ext cx="2221724" cy="100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2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effectLst>
            <a:glow rad="127000">
              <a:schemeClr val="bg1"/>
            </a:glow>
          </a:effectLst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BD8F-E588-44C2-82D3-28181CEEE4A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923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BD8F-E588-44C2-82D3-28181CEEE4A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93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BD8F-E588-44C2-82D3-28181CEEE4A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8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BD8F-E588-44C2-82D3-28181CEEE4A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242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BD8F-E588-44C2-82D3-28181CEEE4A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615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BD8F-E588-44C2-82D3-28181CEEE4A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401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BD8F-E588-44C2-82D3-28181CEEE4A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46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BD8F-E588-44C2-82D3-28181CEEE4A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559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BD8F-E588-44C2-82D3-28181CEEE4A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0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FBD8F-E588-44C2-82D3-28181CEEE4A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E199B-523F-42BC-A673-A8C5F84A1F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353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agungriyant@unwahas.ac.i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839" y="352911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sz="3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Saya</a:t>
            </a:r>
            <a:r>
              <a:rPr lang="en-GB" sz="3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GB" sz="3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percaya</a:t>
            </a:r>
            <a:r>
              <a:rPr lang="en-GB" sz="3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GB" sz="3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diri</a:t>
            </a:r>
            <a:r>
              <a:rPr lang="en-GB" sz="3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GB" sz="3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dan</a:t>
            </a:r>
            <a:r>
              <a:rPr lang="en-GB" sz="3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GB" sz="3600" dirty="0" err="1" smtClean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mampu</a:t>
            </a:r>
            <a:r>
              <a:rPr lang="en-GB" sz="3600" dirty="0" smtClean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/>
            </a:r>
            <a:br>
              <a:rPr lang="en-GB" sz="3600" dirty="0" smtClean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</a:br>
            <a:r>
              <a:rPr lang="en-GB" sz="3600" dirty="0"/>
              <a:t> </a:t>
            </a:r>
            <a:r>
              <a:rPr lang="en-GB" sz="3600" b="1" dirty="0" err="1" smtClean="0">
                <a:latin typeface="Agency FB" panose="020B0503020202020204" pitchFamily="34" charset="0"/>
              </a:rPr>
              <a:t>Saya</a:t>
            </a:r>
            <a:r>
              <a:rPr lang="en-GB" sz="3600" b="1" dirty="0" smtClean="0">
                <a:latin typeface="Agency FB" panose="020B0503020202020204" pitchFamily="34" charset="0"/>
              </a:rPr>
              <a:t> </a:t>
            </a:r>
            <a:r>
              <a:rPr lang="en-GB" sz="3600" b="1" dirty="0" err="1">
                <a:latin typeface="Agency FB" panose="020B0503020202020204" pitchFamily="34" charset="0"/>
              </a:rPr>
              <a:t>adalah</a:t>
            </a:r>
            <a:r>
              <a:rPr lang="en-GB" sz="3600" b="1" dirty="0">
                <a:latin typeface="Agency FB" panose="020B0503020202020204" pitchFamily="34" charset="0"/>
              </a:rPr>
              <a:t> </a:t>
            </a:r>
            <a:r>
              <a:rPr lang="en-GB" sz="3600" b="1" dirty="0" err="1">
                <a:latin typeface="Agency FB" panose="020B0503020202020204" pitchFamily="34" charset="0"/>
              </a:rPr>
              <a:t>pribadi</a:t>
            </a:r>
            <a:r>
              <a:rPr lang="en-GB" sz="3600" b="1" dirty="0">
                <a:latin typeface="Agency FB" panose="020B0503020202020204" pitchFamily="34" charset="0"/>
              </a:rPr>
              <a:t> yang </a:t>
            </a:r>
            <a:r>
              <a:rPr lang="en-GB" sz="3600" b="1" dirty="0" err="1">
                <a:latin typeface="Agency FB" panose="020B0503020202020204" pitchFamily="34" charset="0"/>
              </a:rPr>
              <a:t>penuh</a:t>
            </a:r>
            <a:r>
              <a:rPr lang="en-GB" sz="3600" b="1" dirty="0">
                <a:latin typeface="Agency FB" panose="020B0503020202020204" pitchFamily="34" charset="0"/>
              </a:rPr>
              <a:t> </a:t>
            </a:r>
            <a:r>
              <a:rPr lang="en-GB" sz="3600" b="1" dirty="0" err="1">
                <a:latin typeface="Agency FB" panose="020B0503020202020204" pitchFamily="34" charset="0"/>
              </a:rPr>
              <a:t>energi</a:t>
            </a:r>
            <a:r>
              <a:rPr lang="en-GB" sz="3600" b="1" dirty="0">
                <a:latin typeface="Agency FB" panose="020B0503020202020204" pitchFamily="34" charset="0"/>
              </a:rPr>
              <a:t> </a:t>
            </a:r>
            <a:r>
              <a:rPr lang="en-GB" sz="3600" b="1" dirty="0" err="1">
                <a:latin typeface="Agency FB" panose="020B0503020202020204" pitchFamily="34" charset="0"/>
              </a:rPr>
              <a:t>dan</a:t>
            </a:r>
            <a:r>
              <a:rPr lang="en-GB" sz="3600" b="1" dirty="0">
                <a:latin typeface="Agency FB" panose="020B0503020202020204" pitchFamily="34" charset="0"/>
              </a:rPr>
              <a:t> </a:t>
            </a:r>
            <a:r>
              <a:rPr lang="en-GB" sz="3600" b="1" dirty="0" err="1" smtClean="0">
                <a:latin typeface="Agency FB" panose="020B0503020202020204" pitchFamily="34" charset="0"/>
              </a:rPr>
              <a:t>semangat</a:t>
            </a:r>
            <a:r>
              <a:rPr lang="en-GB" sz="3600" dirty="0" smtClean="0"/>
              <a:t/>
            </a:r>
            <a:br>
              <a:rPr lang="en-GB" sz="3600" dirty="0" smtClean="0"/>
            </a:br>
            <a:r>
              <a:rPr lang="en-GB" sz="3600" dirty="0" err="1" smtClean="0">
                <a:latin typeface="Bahnschrift SemiBold" panose="020B0502040204020203" pitchFamily="34" charset="0"/>
              </a:rPr>
              <a:t>Saya</a:t>
            </a:r>
            <a:r>
              <a:rPr lang="en-GB" sz="3200" dirty="0" smtClean="0">
                <a:latin typeface="Bahnschrift SemiBold" panose="020B0502040204020203" pitchFamily="34" charset="0"/>
              </a:rPr>
              <a:t> </a:t>
            </a:r>
            <a:r>
              <a:rPr lang="en-GB" sz="3200" dirty="0" err="1">
                <a:latin typeface="Bahnschrift SemiBold" panose="020B0502040204020203" pitchFamily="34" charset="0"/>
              </a:rPr>
              <a:t>selalu</a:t>
            </a:r>
            <a:r>
              <a:rPr lang="en-GB" sz="3200" dirty="0">
                <a:latin typeface="Bahnschrift SemiBold" panose="020B0502040204020203" pitchFamily="34" charset="0"/>
              </a:rPr>
              <a:t> </a:t>
            </a:r>
            <a:r>
              <a:rPr lang="en-GB" sz="3200" dirty="0" err="1">
                <a:latin typeface="Bahnschrift SemiBold" panose="020B0502040204020203" pitchFamily="34" charset="0"/>
              </a:rPr>
              <a:t>berpikir</a:t>
            </a:r>
            <a:r>
              <a:rPr lang="en-GB" sz="3200" dirty="0">
                <a:latin typeface="Bahnschrift SemiBold" panose="020B0502040204020203" pitchFamily="34" charset="0"/>
              </a:rPr>
              <a:t> </a:t>
            </a:r>
            <a:r>
              <a:rPr lang="en-GB" sz="3200" dirty="0" err="1">
                <a:latin typeface="Bahnschrift SemiBold" panose="020B0502040204020203" pitchFamily="34" charset="0"/>
              </a:rPr>
              <a:t>positif</a:t>
            </a:r>
            <a:r>
              <a:rPr lang="en-GB" sz="3200" dirty="0">
                <a:latin typeface="Bahnschrift SemiBold" panose="020B0502040204020203" pitchFamily="34" charset="0"/>
              </a:rPr>
              <a:t> </a:t>
            </a:r>
            <a:r>
              <a:rPr lang="en-GB" sz="3200" dirty="0" err="1">
                <a:latin typeface="Bahnschrift SemiBold" panose="020B0502040204020203" pitchFamily="34" charset="0"/>
              </a:rPr>
              <a:t>dan</a:t>
            </a:r>
            <a:r>
              <a:rPr lang="en-GB" sz="3200" dirty="0">
                <a:latin typeface="Bahnschrift SemiBold" panose="020B0502040204020203" pitchFamily="34" charset="0"/>
              </a:rPr>
              <a:t> </a:t>
            </a:r>
            <a:r>
              <a:rPr lang="en-GB" sz="3200" dirty="0" err="1" smtClean="0">
                <a:latin typeface="Bahnschrift SemiBold" panose="020B0502040204020203" pitchFamily="34" charset="0"/>
              </a:rPr>
              <a:t>optimis</a:t>
            </a:r>
            <a:r>
              <a:rPr lang="en-GB" sz="3200" dirty="0" smtClean="0"/>
              <a:t/>
            </a:r>
            <a:br>
              <a:rPr lang="en-GB" sz="3200" dirty="0" smtClean="0"/>
            </a:br>
            <a:r>
              <a:rPr lang="en-GB" sz="3600" dirty="0" err="1" smtClean="0">
                <a:latin typeface="Copperplate Gothic Bold" panose="020E0705020206020404" pitchFamily="34" charset="0"/>
              </a:rPr>
              <a:t>Saya</a:t>
            </a:r>
            <a:r>
              <a:rPr lang="en-GB" sz="3600" dirty="0" smtClean="0">
                <a:latin typeface="Copperplate Gothic Bold" panose="020E0705020206020404" pitchFamily="34" charset="0"/>
              </a:rPr>
              <a:t> </a:t>
            </a:r>
            <a:r>
              <a:rPr lang="en-GB" sz="3600" dirty="0" err="1">
                <a:latin typeface="Copperplate Gothic Bold" panose="020E0705020206020404" pitchFamily="34" charset="0"/>
              </a:rPr>
              <a:t>siap</a:t>
            </a:r>
            <a:r>
              <a:rPr lang="en-GB" sz="3600" dirty="0">
                <a:latin typeface="Copperplate Gothic Bold" panose="020E0705020206020404" pitchFamily="34" charset="0"/>
              </a:rPr>
              <a:t> </a:t>
            </a:r>
            <a:r>
              <a:rPr lang="en-GB" sz="3600" dirty="0" err="1">
                <a:latin typeface="Copperplate Gothic Bold" panose="020E0705020206020404" pitchFamily="34" charset="0"/>
              </a:rPr>
              <a:t>untuk</a:t>
            </a:r>
            <a:r>
              <a:rPr lang="en-GB" sz="3600" dirty="0">
                <a:latin typeface="Copperplate Gothic Bold" panose="020E0705020206020404" pitchFamily="34" charset="0"/>
              </a:rPr>
              <a:t> </a:t>
            </a:r>
            <a:r>
              <a:rPr lang="en-GB" sz="3600" dirty="0" err="1">
                <a:latin typeface="Copperplate Gothic Bold" panose="020E0705020206020404" pitchFamily="34" charset="0"/>
              </a:rPr>
              <a:t>pencapaian</a:t>
            </a:r>
            <a:r>
              <a:rPr lang="en-GB" sz="3600" dirty="0">
                <a:latin typeface="Copperplate Gothic Bold" panose="020E0705020206020404" pitchFamily="34" charset="0"/>
              </a:rPr>
              <a:t> </a:t>
            </a:r>
            <a:r>
              <a:rPr lang="en-GB" sz="3600" dirty="0" err="1">
                <a:latin typeface="Copperplate Gothic Bold" panose="020E0705020206020404" pitchFamily="34" charset="0"/>
              </a:rPr>
              <a:t>baru</a:t>
            </a:r>
            <a:r>
              <a:rPr lang="en-GB" sz="4000" dirty="0">
                <a:latin typeface="Copperplate Gothic Bold" panose="020E0705020206020404" pitchFamily="34" charset="0"/>
              </a:rPr>
              <a:t/>
            </a:r>
            <a:br>
              <a:rPr lang="en-GB" sz="4000" dirty="0">
                <a:latin typeface="Copperplate Gothic Bold" panose="020E0705020206020404" pitchFamily="34" charset="0"/>
              </a:rPr>
            </a:br>
            <a:endParaRPr lang="en-GB" sz="3100" dirty="0">
              <a:latin typeface="Copperplate Gothic Bold" panose="020E07050202060204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808" y="693845"/>
            <a:ext cx="5699544" cy="256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6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1655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MATEMATIKA DISKRIT</a:t>
            </a:r>
            <a:endParaRPr lang="en-GB" sz="6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17257"/>
            <a:ext cx="10515600" cy="1648506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 smtClean="0"/>
              <a:t>Agung</a:t>
            </a:r>
            <a:r>
              <a:rPr lang="en-US" dirty="0" smtClean="0"/>
              <a:t> </a:t>
            </a:r>
            <a:r>
              <a:rPr lang="en-US" dirty="0" err="1" smtClean="0"/>
              <a:t>Riyantomo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>
                <a:hlinkClick r:id="rId2"/>
              </a:rPr>
              <a:t>agungriyant@unwahas.ac.id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081395325483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051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220507"/>
            <a:ext cx="10515600" cy="4351338"/>
          </a:xfrm>
        </p:spPr>
        <p:txBody>
          <a:bodyPr>
            <a:normAutofit/>
          </a:bodyPr>
          <a:lstStyle/>
          <a:p>
            <a:r>
              <a:rPr lang="en-GB" sz="3200" dirty="0" err="1" smtClean="0"/>
              <a:t>Diskrit</a:t>
            </a:r>
            <a:r>
              <a:rPr lang="en-GB" sz="3200" dirty="0" smtClean="0"/>
              <a:t> </a:t>
            </a:r>
            <a:r>
              <a:rPr lang="en-GB" sz="3200" dirty="0" err="1" smtClean="0"/>
              <a:t>artinya</a:t>
            </a:r>
            <a:r>
              <a:rPr lang="en-GB" sz="3200" dirty="0" smtClean="0"/>
              <a:t> </a:t>
            </a:r>
            <a:r>
              <a:rPr lang="en-GB" sz="3200" dirty="0" err="1" smtClean="0"/>
              <a:t>bulat</a:t>
            </a:r>
            <a:r>
              <a:rPr lang="en-GB" sz="3200" dirty="0" smtClean="0"/>
              <a:t>.</a:t>
            </a:r>
          </a:p>
          <a:p>
            <a:r>
              <a:rPr lang="en-GB" sz="3200" dirty="0" err="1" smtClean="0"/>
              <a:t>Misalnya</a:t>
            </a:r>
            <a:r>
              <a:rPr lang="en-GB" sz="3200" dirty="0" smtClean="0"/>
              <a:t> </a:t>
            </a:r>
            <a:r>
              <a:rPr lang="en-GB" sz="3200" dirty="0" err="1" smtClean="0"/>
              <a:t>komputer</a:t>
            </a:r>
            <a:r>
              <a:rPr lang="en-GB" sz="3200" dirty="0" smtClean="0"/>
              <a:t>, </a:t>
            </a:r>
            <a:r>
              <a:rPr lang="en-GB" sz="3200" dirty="0" err="1" smtClean="0"/>
              <a:t>buku</a:t>
            </a:r>
            <a:r>
              <a:rPr lang="en-GB" sz="3200" dirty="0" smtClean="0"/>
              <a:t>, </a:t>
            </a:r>
            <a:r>
              <a:rPr lang="en-GB" sz="3200" dirty="0" err="1" smtClean="0"/>
              <a:t>mahasiswa</a:t>
            </a:r>
            <a:r>
              <a:rPr lang="en-GB" sz="3200" dirty="0" smtClean="0"/>
              <a:t> </a:t>
            </a:r>
            <a:r>
              <a:rPr lang="en-GB" sz="3200" dirty="0" err="1" smtClean="0"/>
              <a:t>dan</a:t>
            </a:r>
            <a:r>
              <a:rPr lang="en-GB" sz="3200" dirty="0" smtClean="0"/>
              <a:t> lain-lain. </a:t>
            </a:r>
          </a:p>
          <a:p>
            <a:r>
              <a:rPr lang="en-GB" sz="3200" dirty="0" err="1" smtClean="0"/>
              <a:t>Ilmu</a:t>
            </a:r>
            <a:r>
              <a:rPr lang="en-GB" sz="3200" dirty="0" smtClean="0"/>
              <a:t> </a:t>
            </a:r>
            <a:r>
              <a:rPr lang="en-GB" sz="3200" dirty="0" err="1" smtClean="0"/>
              <a:t>komputer</a:t>
            </a:r>
            <a:r>
              <a:rPr lang="en-GB" sz="3200" dirty="0" smtClean="0"/>
              <a:t> </a:t>
            </a:r>
            <a:r>
              <a:rPr lang="en-GB" sz="3200" dirty="0" err="1" smtClean="0"/>
              <a:t>atau</a:t>
            </a:r>
            <a:r>
              <a:rPr lang="en-GB" sz="3200" dirty="0" smtClean="0"/>
              <a:t> </a:t>
            </a:r>
            <a:r>
              <a:rPr lang="en-GB" sz="3200" dirty="0" err="1" smtClean="0"/>
              <a:t>informatika</a:t>
            </a:r>
            <a:r>
              <a:rPr lang="en-GB" sz="3200" dirty="0" smtClean="0"/>
              <a:t> </a:t>
            </a:r>
            <a:r>
              <a:rPr lang="en-GB" sz="3200" dirty="0" err="1" smtClean="0"/>
              <a:t>menjadikan</a:t>
            </a:r>
            <a:r>
              <a:rPr lang="en-GB" sz="3200" dirty="0" smtClean="0"/>
              <a:t> </a:t>
            </a:r>
            <a:r>
              <a:rPr lang="en-GB" sz="3200" dirty="0" err="1" smtClean="0"/>
              <a:t>objek</a:t>
            </a:r>
            <a:r>
              <a:rPr lang="en-GB" sz="3200" dirty="0" smtClean="0"/>
              <a:t> </a:t>
            </a:r>
            <a:r>
              <a:rPr lang="en-GB" sz="3200" dirty="0" err="1" smtClean="0"/>
              <a:t>diskrit</a:t>
            </a:r>
            <a:r>
              <a:rPr lang="en-GB" sz="3200" dirty="0" smtClean="0"/>
              <a:t> </a:t>
            </a:r>
            <a:r>
              <a:rPr lang="en-GB" sz="3200" dirty="0" err="1" smtClean="0"/>
              <a:t>ini</a:t>
            </a:r>
            <a:r>
              <a:rPr lang="en-GB" sz="3200" dirty="0" smtClean="0"/>
              <a:t> </a:t>
            </a:r>
            <a:r>
              <a:rPr lang="en-GB" sz="3200" dirty="0" err="1" smtClean="0"/>
              <a:t>sebagai</a:t>
            </a:r>
            <a:r>
              <a:rPr lang="en-GB" sz="3200" dirty="0" smtClean="0"/>
              <a:t> </a:t>
            </a:r>
            <a:r>
              <a:rPr lang="en-GB" sz="3200" dirty="0" err="1" smtClean="0"/>
              <a:t>titik</a:t>
            </a:r>
            <a:r>
              <a:rPr lang="en-GB" sz="3200" dirty="0" smtClean="0"/>
              <a:t> </a:t>
            </a:r>
            <a:r>
              <a:rPr lang="en-GB" sz="3200" dirty="0" err="1" smtClean="0"/>
              <a:t>pokok</a:t>
            </a:r>
            <a:r>
              <a:rPr lang="en-GB" sz="3200" dirty="0" smtClean="0"/>
              <a:t> </a:t>
            </a:r>
            <a:r>
              <a:rPr lang="en-GB" sz="3200" dirty="0" err="1" smtClean="0"/>
              <a:t>pembicaraan</a:t>
            </a:r>
            <a:r>
              <a:rPr lang="en-GB" sz="3200" dirty="0" smtClean="0"/>
              <a:t>. </a:t>
            </a:r>
          </a:p>
          <a:p>
            <a:r>
              <a:rPr lang="en-GB" sz="3200" dirty="0" smtClean="0"/>
              <a:t>Data yang </a:t>
            </a:r>
            <a:r>
              <a:rPr lang="en-GB" sz="3200" dirty="0" err="1" smtClean="0"/>
              <a:t>diolah</a:t>
            </a:r>
            <a:r>
              <a:rPr lang="en-GB" sz="3200" dirty="0" smtClean="0"/>
              <a:t> </a:t>
            </a:r>
            <a:r>
              <a:rPr lang="en-GB" sz="3200" dirty="0" err="1" smtClean="0"/>
              <a:t>oleh</a:t>
            </a:r>
            <a:r>
              <a:rPr lang="en-GB" sz="3200" dirty="0" smtClean="0"/>
              <a:t> </a:t>
            </a:r>
            <a:r>
              <a:rPr lang="en-GB" sz="3200" dirty="0" err="1" smtClean="0"/>
              <a:t>komputer</a:t>
            </a:r>
            <a:r>
              <a:rPr lang="en-GB" sz="3200" dirty="0" smtClean="0"/>
              <a:t> </a:t>
            </a:r>
            <a:r>
              <a:rPr lang="en-GB" sz="3200" dirty="0" err="1" smtClean="0"/>
              <a:t>adalah</a:t>
            </a:r>
            <a:r>
              <a:rPr lang="en-GB" sz="3200" dirty="0" smtClean="0"/>
              <a:t> data </a:t>
            </a:r>
            <a:r>
              <a:rPr lang="en-GB" sz="3200" dirty="0" err="1" smtClean="0"/>
              <a:t>dalam</a:t>
            </a:r>
            <a:r>
              <a:rPr lang="en-GB" sz="3200" dirty="0" smtClean="0"/>
              <a:t> </a:t>
            </a:r>
            <a:r>
              <a:rPr lang="en-GB" sz="3200" dirty="0" err="1" smtClean="0"/>
              <a:t>bentuk</a:t>
            </a:r>
            <a:r>
              <a:rPr lang="en-GB" sz="3200" dirty="0" smtClean="0"/>
              <a:t> </a:t>
            </a:r>
            <a:r>
              <a:rPr lang="en-GB" sz="3200" dirty="0" err="1" smtClean="0"/>
              <a:t>diskrit</a:t>
            </a:r>
            <a:r>
              <a:rPr lang="en-GB" sz="3200" dirty="0" smtClean="0"/>
              <a:t>, </a:t>
            </a:r>
            <a:r>
              <a:rPr lang="en-GB" sz="3200" dirty="0" err="1" smtClean="0"/>
              <a:t>misalnya</a:t>
            </a:r>
            <a:r>
              <a:rPr lang="en-GB" sz="3200" dirty="0" smtClean="0"/>
              <a:t> data </a:t>
            </a:r>
            <a:r>
              <a:rPr lang="en-GB" sz="3200" dirty="0" err="1" smtClean="0"/>
              <a:t>angka</a:t>
            </a:r>
            <a:r>
              <a:rPr lang="en-GB" sz="3200" dirty="0" smtClean="0"/>
              <a:t>, data </a:t>
            </a:r>
            <a:r>
              <a:rPr lang="en-GB" sz="3200" dirty="0" err="1" smtClean="0"/>
              <a:t>karakter</a:t>
            </a:r>
            <a:r>
              <a:rPr lang="en-GB" sz="3200" dirty="0" smtClean="0"/>
              <a:t>, data </a:t>
            </a:r>
            <a:r>
              <a:rPr lang="en-GB" sz="3200" dirty="0" err="1" smtClean="0"/>
              <a:t>diskrit</a:t>
            </a:r>
            <a:r>
              <a:rPr lang="en-GB" sz="3200" dirty="0" smtClean="0"/>
              <a:t>, </a:t>
            </a:r>
            <a:r>
              <a:rPr lang="en-GB" sz="3200" dirty="0" err="1" smtClean="0"/>
              <a:t>misalnya</a:t>
            </a:r>
            <a:r>
              <a:rPr lang="en-GB" sz="3200" dirty="0" smtClean="0"/>
              <a:t> data </a:t>
            </a:r>
            <a:r>
              <a:rPr lang="en-GB" sz="3200" dirty="0" err="1" smtClean="0"/>
              <a:t>angka</a:t>
            </a:r>
            <a:r>
              <a:rPr lang="en-GB" sz="3200" dirty="0" smtClean="0"/>
              <a:t>, data </a:t>
            </a:r>
            <a:r>
              <a:rPr lang="en-GB" sz="3200" dirty="0" err="1" smtClean="0"/>
              <a:t>karakter</a:t>
            </a:r>
            <a:r>
              <a:rPr lang="en-GB" sz="3200" dirty="0" smtClean="0"/>
              <a:t>, data </a:t>
            </a:r>
            <a:r>
              <a:rPr lang="en-GB" sz="3200" dirty="0" err="1" smtClean="0"/>
              <a:t>suara</a:t>
            </a:r>
            <a:r>
              <a:rPr lang="en-GB" sz="3200" dirty="0" smtClean="0"/>
              <a:t>(digital), data </a:t>
            </a:r>
            <a:r>
              <a:rPr lang="en-GB" sz="3200" dirty="0" err="1" smtClean="0"/>
              <a:t>gambar</a:t>
            </a:r>
            <a:r>
              <a:rPr lang="en-GB" sz="3200" dirty="0" smtClean="0"/>
              <a:t>(digital).</a:t>
            </a:r>
          </a:p>
        </p:txBody>
      </p:sp>
    </p:spTree>
    <p:extLst>
      <p:ext uri="{BB962C8B-B14F-4D97-AF65-F5344CB8AC3E}">
        <p14:creationId xmlns:p14="http://schemas.microsoft.com/office/powerpoint/2010/main" val="211045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materi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 smtClean="0"/>
              <a:t>Teori</a:t>
            </a:r>
            <a:r>
              <a:rPr lang="en-US" dirty="0" smtClean="0"/>
              <a:t> </a:t>
            </a:r>
            <a:r>
              <a:rPr lang="en-US" dirty="0" err="1" smtClean="0"/>
              <a:t>Himpunan</a:t>
            </a:r>
            <a:r>
              <a:rPr lang="en-US" dirty="0" smtClean="0"/>
              <a:t> </a:t>
            </a:r>
          </a:p>
          <a:p>
            <a:pPr marL="514350" indent="-514350">
              <a:buAutoNum type="arabicPeriod"/>
            </a:pPr>
            <a:r>
              <a:rPr lang="en-US" dirty="0" err="1" smtClean="0"/>
              <a:t>Relasi</a:t>
            </a:r>
            <a:r>
              <a:rPr lang="en-US" dirty="0" smtClean="0"/>
              <a:t> &amp; </a:t>
            </a:r>
            <a:r>
              <a:rPr lang="en-US" dirty="0" err="1" smtClean="0"/>
              <a:t>fungsi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err="1" smtClean="0"/>
              <a:t>Induksi</a:t>
            </a:r>
            <a:r>
              <a:rPr lang="en-US" dirty="0" smtClean="0"/>
              <a:t> </a:t>
            </a:r>
            <a:r>
              <a:rPr lang="en-US" dirty="0" err="1" smtClean="0"/>
              <a:t>matematika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err="1" smtClean="0"/>
              <a:t>Logika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err="1" smtClean="0"/>
              <a:t>graf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7956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126937"/>
            <a:ext cx="8229600" cy="981076"/>
          </a:xfrm>
        </p:spPr>
        <p:txBody>
          <a:bodyPr/>
          <a:lstStyle/>
          <a:p>
            <a:pPr eaLnBrk="1" hangingPunct="1"/>
            <a:r>
              <a:rPr lang="en-US" altLang="en-US" b="1" dirty="0" err="1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Referensi</a:t>
            </a:r>
            <a:endParaRPr lang="en-US" altLang="en-US" b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353235"/>
            <a:ext cx="10515600" cy="382372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1. </a:t>
            </a:r>
            <a:r>
              <a:rPr lang="en-US" altLang="en-US" dirty="0" err="1" smtClean="0"/>
              <a:t>Rinaldi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Munir</a:t>
            </a:r>
            <a:r>
              <a:rPr lang="en-US" altLang="en-US" dirty="0" smtClean="0"/>
              <a:t> , “</a:t>
            </a:r>
            <a:r>
              <a:rPr lang="en-US" altLang="en-US" i="1" dirty="0" err="1" smtClean="0"/>
              <a:t>matematika</a:t>
            </a:r>
            <a:r>
              <a:rPr lang="en-US" altLang="en-US" i="1" dirty="0" smtClean="0"/>
              <a:t> </a:t>
            </a:r>
            <a:r>
              <a:rPr lang="en-US" altLang="en-US" i="1" dirty="0" err="1" smtClean="0"/>
              <a:t>diskrit</a:t>
            </a:r>
            <a:r>
              <a:rPr lang="en-US" altLang="en-US" i="1" dirty="0" smtClean="0"/>
              <a:t>”</a:t>
            </a:r>
            <a:r>
              <a:rPr lang="en-US" altLang="en-US" dirty="0" smtClean="0"/>
              <a:t> , </a:t>
            </a:r>
            <a:r>
              <a:rPr lang="en-US" altLang="en-US" dirty="0" err="1" smtClean="0"/>
              <a:t>informatika</a:t>
            </a:r>
            <a:r>
              <a:rPr lang="en-US" altLang="en-US" dirty="0" smtClean="0"/>
              <a:t> Bandung</a:t>
            </a:r>
          </a:p>
          <a:p>
            <a:pPr eaLnBrk="1" hangingPunct="1"/>
            <a:r>
              <a:rPr lang="en-US" altLang="en-US" dirty="0" smtClean="0"/>
              <a:t>2. Drs. Jong </a:t>
            </a:r>
            <a:r>
              <a:rPr lang="en-US" altLang="en-US" dirty="0" err="1" smtClean="0"/>
              <a:t>Jek</a:t>
            </a:r>
            <a:r>
              <a:rPr lang="en-US" altLang="en-US" dirty="0" smtClean="0"/>
              <a:t> Siang, </a:t>
            </a:r>
            <a:r>
              <a:rPr lang="en-US" altLang="en-US" dirty="0" err="1" smtClean="0"/>
              <a:t>M.Sc</a:t>
            </a:r>
            <a:r>
              <a:rPr lang="en-US" altLang="en-US" dirty="0" smtClean="0"/>
              <a:t> , “</a:t>
            </a:r>
            <a:r>
              <a:rPr lang="en-US" altLang="en-US" dirty="0" err="1" smtClean="0"/>
              <a:t>Matematika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Diskrit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dan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aplikasinya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pada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ilmu</a:t>
            </a:r>
            <a:r>
              <a:rPr lang="en-US" altLang="en-US" dirty="0" smtClean="0"/>
              <a:t> computer”, </a:t>
            </a:r>
            <a:r>
              <a:rPr lang="en-US" altLang="en-US" dirty="0" err="1" smtClean="0"/>
              <a:t>Andi</a:t>
            </a:r>
            <a:r>
              <a:rPr lang="en-US" altLang="en-US" dirty="0" smtClean="0"/>
              <a:t> publisher. 2009</a:t>
            </a:r>
          </a:p>
          <a:p>
            <a:pPr eaLnBrk="1" hangingPunct="1"/>
            <a:r>
              <a:rPr lang="en-US" altLang="en-US" dirty="0" smtClean="0"/>
              <a:t>3. Peter V. O’Neil, “Advanced Engineering Mathematics, 8</a:t>
            </a:r>
            <a:r>
              <a:rPr lang="en-US" altLang="en-US" baseline="30000" dirty="0" smtClean="0"/>
              <a:t>th</a:t>
            </a:r>
            <a:r>
              <a:rPr lang="en-US" altLang="en-US" dirty="0" smtClean="0"/>
              <a:t> edition, SI edition”, </a:t>
            </a:r>
            <a:r>
              <a:rPr lang="en-US" altLang="en-US" dirty="0" err="1" smtClean="0"/>
              <a:t>Cengage</a:t>
            </a:r>
            <a:r>
              <a:rPr lang="en-US" altLang="en-US" dirty="0" smtClean="0"/>
              <a:t> learning Inc. 2018</a:t>
            </a:r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6905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64546" y="1315196"/>
            <a:ext cx="8229600" cy="981076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chemeClr val="tx1"/>
                </a:solidFill>
              </a:rPr>
              <a:t>PENILAIAN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581835"/>
            <a:ext cx="10515600" cy="3595128"/>
          </a:xfrm>
        </p:spPr>
        <p:txBody>
          <a:bodyPr/>
          <a:lstStyle/>
          <a:p>
            <a:pPr eaLnBrk="1" hangingPunct="1"/>
            <a:r>
              <a:rPr lang="en-US" altLang="en-US" dirty="0" err="1" smtClean="0"/>
              <a:t>Kehadiran</a:t>
            </a:r>
            <a:r>
              <a:rPr lang="en-US" altLang="en-US" dirty="0" smtClean="0"/>
              <a:t> 	 </a:t>
            </a:r>
          </a:p>
          <a:p>
            <a:pPr eaLnBrk="1" hangingPunct="1"/>
            <a:r>
              <a:rPr lang="en-US" altLang="en-US" dirty="0" err="1" smtClean="0"/>
              <a:t>Tugas</a:t>
            </a:r>
            <a:r>
              <a:rPr lang="en-US" altLang="en-US" dirty="0" smtClean="0"/>
              <a:t>		</a:t>
            </a:r>
          </a:p>
          <a:p>
            <a:pPr eaLnBrk="1" hangingPunct="1"/>
            <a:r>
              <a:rPr lang="en-US" altLang="en-US" dirty="0" smtClean="0"/>
              <a:t>UTS		</a:t>
            </a:r>
          </a:p>
          <a:p>
            <a:pPr eaLnBrk="1" hangingPunct="1"/>
            <a:r>
              <a:rPr lang="en-US" altLang="en-US" dirty="0" smtClean="0"/>
              <a:t>UAS</a:t>
            </a:r>
          </a:p>
          <a:p>
            <a:pPr eaLnBrk="1" hangingPunct="1"/>
            <a:r>
              <a:rPr lang="en-US" altLang="en-US" dirty="0" err="1" smtClean="0"/>
              <a:t>Keaktifan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dalam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pembelajaran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5908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8188"/>
            <a:ext cx="10515600" cy="977994"/>
          </a:xfrm>
        </p:spPr>
        <p:txBody>
          <a:bodyPr/>
          <a:lstStyle/>
          <a:p>
            <a:r>
              <a:rPr lang="en-GB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Caslon Pro Bold" panose="0205070206050A020403" pitchFamily="18" charset="0"/>
              </a:rPr>
              <a:t>Matematika</a:t>
            </a:r>
            <a:r>
              <a:rPr lang="en-GB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Caslon Pro Bold" panose="0205070206050A020403" pitchFamily="18" charset="0"/>
              </a:rPr>
              <a:t> </a:t>
            </a:r>
            <a:r>
              <a:rPr lang="en-GB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Caslon Pro Bold" panose="0205070206050A020403" pitchFamily="18" charset="0"/>
              </a:rPr>
              <a:t>diskrit</a:t>
            </a:r>
            <a:endParaRPr lang="en-GB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dobe Caslon Pro Bold" panose="0205070206050A0204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 err="1" smtClean="0"/>
              <a:t>adalah</a:t>
            </a:r>
            <a:r>
              <a:rPr lang="en-GB" sz="3200" dirty="0" smtClean="0"/>
              <a:t> </a:t>
            </a:r>
            <a:r>
              <a:rPr lang="en-GB" sz="3200" dirty="0" err="1" smtClean="0"/>
              <a:t>bagian</a:t>
            </a:r>
            <a:r>
              <a:rPr lang="en-GB" sz="3200" dirty="0" smtClean="0"/>
              <a:t> </a:t>
            </a:r>
            <a:r>
              <a:rPr lang="en-GB" sz="3200" dirty="0" err="1" smtClean="0"/>
              <a:t>dari</a:t>
            </a:r>
            <a:r>
              <a:rPr lang="en-GB" sz="3200" dirty="0" smtClean="0"/>
              <a:t> </a:t>
            </a:r>
            <a:r>
              <a:rPr lang="en-GB" sz="3200" dirty="0" err="1" smtClean="0"/>
              <a:t>matematika</a:t>
            </a:r>
            <a:r>
              <a:rPr lang="en-GB" sz="3200" dirty="0" smtClean="0"/>
              <a:t> yang </a:t>
            </a:r>
            <a:r>
              <a:rPr lang="en-GB" sz="3200" dirty="0" err="1" smtClean="0"/>
              <a:t>mempelajari</a:t>
            </a:r>
            <a:r>
              <a:rPr lang="en-GB" sz="3200" dirty="0" smtClean="0"/>
              <a:t> </a:t>
            </a:r>
            <a:r>
              <a:rPr lang="en-GB" sz="3200" dirty="0" err="1" smtClean="0"/>
              <a:t>objek</a:t>
            </a:r>
            <a:r>
              <a:rPr lang="en-GB" sz="3200" dirty="0" smtClean="0"/>
              <a:t> </a:t>
            </a:r>
            <a:r>
              <a:rPr lang="en-GB" sz="3200" dirty="0" err="1" smtClean="0"/>
              <a:t>objek</a:t>
            </a:r>
            <a:r>
              <a:rPr lang="en-GB" sz="3200" dirty="0" smtClean="0"/>
              <a:t> </a:t>
            </a:r>
            <a:r>
              <a:rPr lang="en-GB" sz="3200" dirty="0" err="1" smtClean="0"/>
              <a:t>diskrit</a:t>
            </a:r>
            <a:r>
              <a:rPr lang="en-GB" sz="3200" dirty="0" smtClean="0"/>
              <a:t>. Di </a:t>
            </a:r>
            <a:r>
              <a:rPr lang="en-GB" sz="3200" dirty="0" err="1" smtClean="0"/>
              <a:t>sini</a:t>
            </a:r>
            <a:r>
              <a:rPr lang="en-GB" sz="3200" dirty="0" smtClean="0"/>
              <a:t> </a:t>
            </a:r>
            <a:r>
              <a:rPr lang="en-GB" sz="3200" dirty="0" err="1" smtClean="0"/>
              <a:t>objek-objek</a:t>
            </a:r>
            <a:r>
              <a:rPr lang="en-GB" sz="3200" dirty="0" smtClean="0"/>
              <a:t> </a:t>
            </a:r>
            <a:r>
              <a:rPr lang="en-GB" sz="3200" dirty="0" err="1" smtClean="0">
                <a:solidFill>
                  <a:srgbClr val="FF0000"/>
                </a:solidFill>
              </a:rPr>
              <a:t>diskrit</a:t>
            </a:r>
            <a:r>
              <a:rPr lang="en-GB" sz="3200" dirty="0" smtClean="0">
                <a:solidFill>
                  <a:srgbClr val="FF0000"/>
                </a:solidFill>
              </a:rPr>
              <a:t> </a:t>
            </a:r>
            <a:r>
              <a:rPr lang="en-GB" sz="3200" dirty="0" err="1" smtClean="0">
                <a:solidFill>
                  <a:srgbClr val="FF0000"/>
                </a:solidFill>
              </a:rPr>
              <a:t>diartikan</a:t>
            </a:r>
            <a:r>
              <a:rPr lang="en-GB" sz="3200" dirty="0" smtClean="0">
                <a:solidFill>
                  <a:srgbClr val="FF0000"/>
                </a:solidFill>
              </a:rPr>
              <a:t> </a:t>
            </a:r>
            <a:r>
              <a:rPr lang="en-GB" sz="3200" dirty="0" err="1" smtClean="0"/>
              <a:t>sebagai</a:t>
            </a:r>
            <a:r>
              <a:rPr lang="en-GB" sz="3200" dirty="0" smtClean="0"/>
              <a:t> </a:t>
            </a:r>
            <a:r>
              <a:rPr lang="en-GB" sz="3200" dirty="0" err="1" smtClean="0"/>
              <a:t>objek-objek</a:t>
            </a:r>
            <a:r>
              <a:rPr lang="en-GB" sz="3200" dirty="0" smtClean="0"/>
              <a:t> yang </a:t>
            </a:r>
            <a:r>
              <a:rPr lang="en-GB" sz="3200" dirty="0" err="1" smtClean="0"/>
              <a:t>berbeda</a:t>
            </a:r>
            <a:r>
              <a:rPr lang="en-GB" sz="3200" dirty="0" smtClean="0"/>
              <a:t> </a:t>
            </a:r>
            <a:r>
              <a:rPr lang="en-GB" sz="3200" dirty="0" err="1" smtClean="0"/>
              <a:t>dan</a:t>
            </a:r>
            <a:r>
              <a:rPr lang="en-GB" sz="3200" dirty="0" smtClean="0"/>
              <a:t> </a:t>
            </a:r>
            <a:r>
              <a:rPr lang="en-GB" sz="3200" dirty="0" err="1" smtClean="0"/>
              <a:t>saling</a:t>
            </a:r>
            <a:r>
              <a:rPr lang="en-GB" sz="3200" dirty="0" smtClean="0"/>
              <a:t> </a:t>
            </a:r>
            <a:r>
              <a:rPr lang="en-GB" sz="3200" dirty="0" err="1" smtClean="0"/>
              <a:t>lepas</a:t>
            </a:r>
            <a:r>
              <a:rPr lang="en-GB" sz="3200" dirty="0" smtClean="0"/>
              <a:t>. </a:t>
            </a:r>
            <a:r>
              <a:rPr lang="en-GB" sz="3200" dirty="0" err="1" smtClean="0"/>
              <a:t>Matematika</a:t>
            </a:r>
            <a:r>
              <a:rPr lang="en-GB" sz="3200" dirty="0" smtClean="0"/>
              <a:t> </a:t>
            </a:r>
            <a:r>
              <a:rPr lang="en-GB" sz="3200" dirty="0" err="1" smtClean="0"/>
              <a:t>diskrit</a:t>
            </a:r>
            <a:r>
              <a:rPr lang="en-GB" sz="3200" dirty="0" smtClean="0"/>
              <a:t> </a:t>
            </a:r>
            <a:r>
              <a:rPr lang="en-GB" sz="3200" dirty="0" err="1" smtClean="0"/>
              <a:t>memiliki</a:t>
            </a:r>
            <a:r>
              <a:rPr lang="en-GB" sz="3200" dirty="0" smtClean="0"/>
              <a:t> </a:t>
            </a:r>
            <a:r>
              <a:rPr lang="en-GB" sz="3200" dirty="0" err="1" smtClean="0"/>
              <a:t>aplikasi</a:t>
            </a:r>
            <a:r>
              <a:rPr lang="en-GB" sz="3200" dirty="0" smtClean="0"/>
              <a:t> di </a:t>
            </a:r>
            <a:r>
              <a:rPr lang="en-GB" sz="3200" dirty="0" err="1" smtClean="0"/>
              <a:t>hampir</a:t>
            </a:r>
            <a:r>
              <a:rPr lang="en-GB" sz="3200" dirty="0" smtClean="0"/>
              <a:t> </a:t>
            </a:r>
            <a:r>
              <a:rPr lang="en-GB" sz="3200" dirty="0" err="1" smtClean="0"/>
              <a:t>semua</a:t>
            </a:r>
            <a:r>
              <a:rPr lang="en-GB" sz="3200" dirty="0" smtClean="0"/>
              <a:t> </a:t>
            </a:r>
            <a:r>
              <a:rPr lang="en-GB" sz="3200" dirty="0" err="1" smtClean="0"/>
              <a:t>bidang</a:t>
            </a:r>
            <a:r>
              <a:rPr lang="en-GB" sz="3200" dirty="0" smtClean="0"/>
              <a:t> </a:t>
            </a:r>
            <a:r>
              <a:rPr lang="en-GB" sz="3200" dirty="0" err="1" smtClean="0"/>
              <a:t>kehidupan</a:t>
            </a:r>
            <a:r>
              <a:rPr lang="en-GB" sz="3200" dirty="0" smtClean="0"/>
              <a:t>, </a:t>
            </a:r>
            <a:r>
              <a:rPr lang="en-GB" sz="3200" dirty="0" err="1" smtClean="0"/>
              <a:t>seperti</a:t>
            </a:r>
            <a:r>
              <a:rPr lang="en-GB" sz="3200" dirty="0" smtClean="0"/>
              <a:t> </a:t>
            </a:r>
            <a:r>
              <a:rPr lang="en-GB" sz="3200" dirty="0" err="1" smtClean="0"/>
              <a:t>ilmu</a:t>
            </a:r>
            <a:r>
              <a:rPr lang="en-GB" sz="3200" dirty="0" smtClean="0"/>
              <a:t> </a:t>
            </a:r>
            <a:r>
              <a:rPr lang="en-GB" sz="3200" dirty="0" err="1" smtClean="0"/>
              <a:t>komputer</a:t>
            </a:r>
            <a:r>
              <a:rPr lang="en-GB" sz="3200" dirty="0" smtClean="0"/>
              <a:t>, </a:t>
            </a:r>
            <a:r>
              <a:rPr lang="en-GB" sz="3200" dirty="0" err="1" smtClean="0"/>
              <a:t>kimia</a:t>
            </a:r>
            <a:r>
              <a:rPr lang="en-GB" sz="3200" dirty="0" smtClean="0"/>
              <a:t>, </a:t>
            </a:r>
            <a:r>
              <a:rPr lang="en-GB" sz="3200" dirty="0" err="1" smtClean="0"/>
              <a:t>botani</a:t>
            </a:r>
            <a:r>
              <a:rPr lang="en-GB" sz="3200" dirty="0" smtClean="0"/>
              <a:t>, </a:t>
            </a:r>
            <a:r>
              <a:rPr lang="en-GB" sz="3200" dirty="0" err="1" smtClean="0"/>
              <a:t>zoologi</a:t>
            </a:r>
            <a:r>
              <a:rPr lang="en-GB" sz="3200" dirty="0" smtClean="0"/>
              <a:t>, </a:t>
            </a:r>
            <a:r>
              <a:rPr lang="en-GB" sz="3200" dirty="0" err="1" smtClean="0"/>
              <a:t>lin</a:t>
            </a:r>
            <a:r>
              <a:rPr lang="en-GB" sz="3200" dirty="0" smtClean="0"/>
              <a:t> </a:t>
            </a:r>
            <a:r>
              <a:rPr lang="en-GB" sz="3200" dirty="0" err="1" smtClean="0"/>
              <a:t>guistik</a:t>
            </a:r>
            <a:r>
              <a:rPr lang="en-GB" sz="3200" dirty="0" smtClean="0"/>
              <a:t>, </a:t>
            </a:r>
            <a:r>
              <a:rPr lang="en-GB" sz="3200" dirty="0" err="1" smtClean="0"/>
              <a:t>geogra</a:t>
            </a:r>
            <a:r>
              <a:rPr lang="en-GB" sz="3200" dirty="0" smtClean="0"/>
              <a:t> , </a:t>
            </a:r>
            <a:r>
              <a:rPr lang="en-GB" sz="3200" dirty="0" err="1" smtClean="0"/>
              <a:t>dan</a:t>
            </a:r>
            <a:r>
              <a:rPr lang="en-GB" sz="3200" dirty="0" smtClean="0"/>
              <a:t> </a:t>
            </a:r>
            <a:r>
              <a:rPr lang="en-GB" sz="3200" dirty="0" err="1" smtClean="0"/>
              <a:t>bisnis</a:t>
            </a:r>
            <a:r>
              <a:rPr lang="en-GB" sz="3200" dirty="0" smtClean="0"/>
              <a:t>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2592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1"/>
          <p:cNvSpPr>
            <a:spLocks noGrp="1" noChangeArrowheads="1"/>
          </p:cNvSpPr>
          <p:nvPr>
            <p:ph idx="1"/>
          </p:nvPr>
        </p:nvSpPr>
        <p:spPr>
          <a:xfrm>
            <a:off x="995082" y="1445933"/>
            <a:ext cx="9937377" cy="4525963"/>
          </a:xfrm>
        </p:spPr>
        <p:txBody>
          <a:bodyPr vert="horz" lIns="0" tIns="0" rIns="0" bIns="0" rtlCol="0">
            <a:normAutofit/>
          </a:bodyPr>
          <a:lstStyle/>
          <a:p>
            <a:pPr marL="0" indent="0">
              <a:lnSpc>
                <a:spcPts val="2900"/>
              </a:lnSpc>
              <a:buNone/>
            </a:pP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Matematika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diskrit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adalah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cabang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matematika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yang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mempelajari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objek-objek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diskrit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,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yaitu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objek-objek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yang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dapat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dihitung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atau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dipisahkan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. </a:t>
            </a:r>
          </a:p>
          <a:p>
            <a:pPr marL="0" indent="0">
              <a:lnSpc>
                <a:spcPts val="2900"/>
              </a:lnSpc>
              <a:buNone/>
            </a:pPr>
            <a:endParaRPr lang="en-US" altLang="en-US" sz="2400" dirty="0">
              <a:solidFill>
                <a:srgbClr val="2A2742"/>
              </a:solidFill>
              <a:latin typeface="Arimo" charset="0"/>
            </a:endParaRPr>
          </a:p>
          <a:p>
            <a:pPr marL="0" indent="0">
              <a:lnSpc>
                <a:spcPts val="2900"/>
              </a:lnSpc>
              <a:buNone/>
            </a:pP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Dalam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konteks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informatika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,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matematika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diskrit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memainkan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peran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yang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sangat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penting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.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Ini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adalah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dasar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untuk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memahami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dan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memecahkan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berbagai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masalah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di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bidang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komputasi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,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pemrograman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,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dan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sistem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informasi</a:t>
            </a:r>
            <a:endParaRPr lang="en-US" altLang="en-US" sz="2400" dirty="0">
              <a:solidFill>
                <a:srgbClr val="2A2742"/>
              </a:solidFill>
              <a:latin typeface="Arimo" charset="0"/>
            </a:endParaRPr>
          </a:p>
          <a:p>
            <a:pPr marL="0" indent="0">
              <a:lnSpc>
                <a:spcPts val="2900"/>
              </a:lnSpc>
              <a:buNone/>
            </a:pPr>
            <a:endParaRPr lang="en-US" altLang="en-US" sz="2400" dirty="0">
              <a:solidFill>
                <a:srgbClr val="2A2742"/>
              </a:solidFill>
              <a:latin typeface="Arimo" charset="0"/>
            </a:endParaRPr>
          </a:p>
          <a:p>
            <a:pPr marL="0" indent="0">
              <a:lnSpc>
                <a:spcPts val="2900"/>
              </a:lnSpc>
              <a:buNone/>
            </a:pP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Matematika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diskrit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memberikan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kerangka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kerja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untuk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memahami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algoritma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,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struktur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data,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dan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konsep-konsep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komputasi</a:t>
            </a:r>
            <a:r>
              <a:rPr lang="en-US" altLang="en-US" sz="2400" dirty="0">
                <a:solidFill>
                  <a:srgbClr val="2A2742"/>
                </a:solidFill>
                <a:latin typeface="Arimo" charset="0"/>
              </a:rPr>
              <a:t> </a:t>
            </a:r>
            <a:r>
              <a:rPr lang="en-US" altLang="en-US" sz="2400" dirty="0" err="1">
                <a:solidFill>
                  <a:srgbClr val="2A2742"/>
                </a:solidFill>
                <a:latin typeface="Arimo" charset="0"/>
              </a:rPr>
              <a:t>lainnya</a:t>
            </a:r>
            <a:r>
              <a:rPr lang="en-US" altLang="en-US" sz="1800" dirty="0">
                <a:solidFill>
                  <a:srgbClr val="2A2742"/>
                </a:solidFill>
                <a:latin typeface="Arimo" charset="0"/>
              </a:rPr>
              <a:t>.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2299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825625"/>
            <a:ext cx="10578353" cy="4351338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err="1">
                <a:latin typeface="Arimo"/>
              </a:rPr>
              <a:t>Diskrit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artinya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tidak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saling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berhubungan</a:t>
            </a:r>
            <a:r>
              <a:rPr lang="en-US" sz="2400" dirty="0">
                <a:latin typeface="Arimo"/>
              </a:rPr>
              <a:t> (</a:t>
            </a:r>
            <a:r>
              <a:rPr lang="en-US" sz="2400" dirty="0" err="1">
                <a:latin typeface="Arimo"/>
              </a:rPr>
              <a:t>lawan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dari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kontinu</a:t>
            </a:r>
            <a:r>
              <a:rPr lang="en-US" sz="2400" dirty="0">
                <a:latin typeface="Arimo"/>
              </a:rPr>
              <a:t>).</a:t>
            </a:r>
          </a:p>
          <a:p>
            <a:pPr>
              <a:defRPr/>
            </a:pPr>
            <a:r>
              <a:rPr lang="en-US" sz="2400" dirty="0" err="1">
                <a:latin typeface="Arimo"/>
              </a:rPr>
              <a:t>Diskrit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adalah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sejumlah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berhingga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elemen</a:t>
            </a:r>
            <a:r>
              <a:rPr lang="en-US" sz="2400" dirty="0">
                <a:latin typeface="Arimo"/>
              </a:rPr>
              <a:t> yang </a:t>
            </a:r>
            <a:r>
              <a:rPr lang="en-US" sz="2400" dirty="0" err="1">
                <a:latin typeface="Arimo"/>
              </a:rPr>
              <a:t>berbeda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atau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elemen-elemen</a:t>
            </a:r>
            <a:r>
              <a:rPr lang="en-US" sz="2400" dirty="0">
                <a:latin typeface="Arimo"/>
              </a:rPr>
              <a:t> yang </a:t>
            </a:r>
            <a:r>
              <a:rPr lang="en-US" sz="2400" dirty="0" err="1">
                <a:latin typeface="Arimo"/>
              </a:rPr>
              <a:t>tidak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bersambungan</a:t>
            </a:r>
            <a:r>
              <a:rPr lang="en-US" sz="2400" dirty="0">
                <a:latin typeface="Arimo"/>
              </a:rPr>
              <a:t>.</a:t>
            </a:r>
          </a:p>
          <a:p>
            <a:pPr>
              <a:defRPr/>
            </a:pPr>
            <a:r>
              <a:rPr lang="en-US" sz="2400" dirty="0">
                <a:latin typeface="Arimo"/>
              </a:rPr>
              <a:t>Data </a:t>
            </a:r>
            <a:r>
              <a:rPr lang="en-US" sz="2400" dirty="0" err="1">
                <a:latin typeface="Arimo"/>
              </a:rPr>
              <a:t>diskrit</a:t>
            </a:r>
            <a:r>
              <a:rPr lang="en-US" sz="2400" dirty="0">
                <a:latin typeface="Arimo"/>
              </a:rPr>
              <a:t> : data yang </a:t>
            </a:r>
            <a:r>
              <a:rPr lang="en-US" sz="2400" dirty="0" err="1">
                <a:latin typeface="Arimo"/>
              </a:rPr>
              <a:t>satuannya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selalu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bulat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dalam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bilangan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asli</a:t>
            </a:r>
            <a:r>
              <a:rPr lang="en-US" sz="2400" dirty="0">
                <a:latin typeface="Arimo"/>
              </a:rPr>
              <a:t>, </a:t>
            </a:r>
            <a:r>
              <a:rPr lang="en-US" sz="2400" dirty="0" err="1">
                <a:latin typeface="Arimo"/>
              </a:rPr>
              <a:t>tidak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berbentuk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pecahan</a:t>
            </a:r>
            <a:r>
              <a:rPr lang="en-US" sz="2400" dirty="0">
                <a:latin typeface="Arimo"/>
              </a:rPr>
              <a:t>, </a:t>
            </a:r>
            <a:r>
              <a:rPr lang="en-US" sz="2400" dirty="0" err="1">
                <a:latin typeface="Arimo"/>
              </a:rPr>
              <a:t>Contoh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dari</a:t>
            </a:r>
            <a:r>
              <a:rPr lang="en-US" sz="2400" dirty="0">
                <a:latin typeface="Arimo"/>
              </a:rPr>
              <a:t> data </a:t>
            </a:r>
            <a:r>
              <a:rPr lang="en-US" sz="2400" dirty="0" err="1">
                <a:latin typeface="Arimo"/>
              </a:rPr>
              <a:t>diskrit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misalnya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manusia</a:t>
            </a:r>
            <a:r>
              <a:rPr lang="en-US" sz="2400" dirty="0">
                <a:latin typeface="Arimo"/>
              </a:rPr>
              <a:t>, </a:t>
            </a:r>
            <a:r>
              <a:rPr lang="en-US" sz="2400" dirty="0" err="1">
                <a:latin typeface="Arimo"/>
              </a:rPr>
              <a:t>pohon</a:t>
            </a:r>
            <a:r>
              <a:rPr lang="en-US" sz="2400" dirty="0">
                <a:latin typeface="Arimo"/>
              </a:rPr>
              <a:t>, bola </a:t>
            </a:r>
            <a:r>
              <a:rPr lang="en-US" sz="2400" dirty="0" err="1">
                <a:latin typeface="Arimo"/>
              </a:rPr>
              <a:t>dan</a:t>
            </a:r>
            <a:r>
              <a:rPr lang="en-US" sz="2400" dirty="0">
                <a:latin typeface="Arimo"/>
              </a:rPr>
              <a:t> lain-lain.</a:t>
            </a:r>
          </a:p>
          <a:p>
            <a:pPr>
              <a:defRPr/>
            </a:pPr>
            <a:r>
              <a:rPr lang="en-US" sz="2400" dirty="0" err="1">
                <a:latin typeface="Arimo"/>
              </a:rPr>
              <a:t>Fungsi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diskrit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digambarkan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sebagai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sekumpulan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titik-titik</a:t>
            </a:r>
            <a:r>
              <a:rPr lang="en-US" sz="2400" dirty="0">
                <a:latin typeface="Arimo"/>
              </a:rPr>
              <a:t>.</a:t>
            </a:r>
          </a:p>
          <a:p>
            <a:pPr marL="0" indent="0">
              <a:buNone/>
              <a:defRPr/>
            </a:pPr>
            <a:endParaRPr lang="en-US" sz="2400" dirty="0"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46040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063751" y="2111376"/>
            <a:ext cx="3857625" cy="481013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>
              <a:lnSpc>
                <a:spcPts val="3781"/>
              </a:lnSpc>
              <a:defRPr/>
            </a:pPr>
            <a:r>
              <a:rPr lang="en-US" sz="3031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Teori Himpunan</a:t>
            </a:r>
            <a:endParaRPr lang="en-US" sz="3031" dirty="0"/>
          </a:p>
        </p:txBody>
      </p:sp>
      <p:sp>
        <p:nvSpPr>
          <p:cNvPr id="5" name="Text 1"/>
          <p:cNvSpPr>
            <a:spLocks noChangeArrowheads="1"/>
          </p:cNvSpPr>
          <p:nvPr/>
        </p:nvSpPr>
        <p:spPr bwMode="auto">
          <a:xfrm>
            <a:off x="2063751" y="2978150"/>
            <a:ext cx="192881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1875"/>
              </a:lnSpc>
              <a:spcBef>
                <a:spcPct val="0"/>
              </a:spcBef>
              <a:buNone/>
            </a:pPr>
            <a:r>
              <a:rPr lang="en-US" altLang="en-US" sz="1500" b="1">
                <a:solidFill>
                  <a:srgbClr val="231971"/>
                </a:solidFill>
                <a:latin typeface="Outfit Extra Bold" charset="0"/>
              </a:rPr>
              <a:t>Konsep Dasar</a:t>
            </a:r>
            <a:endParaRPr lang="en-US" altLang="en-US" sz="1500"/>
          </a:p>
        </p:txBody>
      </p:sp>
      <p:sp>
        <p:nvSpPr>
          <p:cNvPr id="6" name="Text 2"/>
          <p:cNvSpPr/>
          <p:nvPr/>
        </p:nvSpPr>
        <p:spPr>
          <a:xfrm>
            <a:off x="2063751" y="3373439"/>
            <a:ext cx="2436813" cy="9874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938"/>
              </a:lnSpc>
              <a:defRPr/>
            </a:pPr>
            <a:r>
              <a:rPr lang="en-US" sz="1188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Teori himpunan adalah cabang matematika yang mempelajari himpunan, yaitu koleksi objek-objek yang disebut anggota atau elemen.</a:t>
            </a:r>
            <a:endParaRPr lang="en-US" sz="1188" dirty="0"/>
          </a:p>
        </p:txBody>
      </p:sp>
      <p:sp>
        <p:nvSpPr>
          <p:cNvPr id="7" name="Text 3"/>
          <p:cNvSpPr>
            <a:spLocks noChangeArrowheads="1"/>
          </p:cNvSpPr>
          <p:nvPr/>
        </p:nvSpPr>
        <p:spPr bwMode="auto">
          <a:xfrm>
            <a:off x="4881563" y="2978150"/>
            <a:ext cx="1928812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1875"/>
              </a:lnSpc>
              <a:spcBef>
                <a:spcPct val="0"/>
              </a:spcBef>
              <a:buNone/>
            </a:pPr>
            <a:r>
              <a:rPr lang="en-US" altLang="en-US" sz="1500" b="1">
                <a:solidFill>
                  <a:srgbClr val="231971"/>
                </a:solidFill>
                <a:latin typeface="Outfit Extra Bold" charset="0"/>
              </a:rPr>
              <a:t>Operasi Himpunan</a:t>
            </a:r>
            <a:endParaRPr lang="en-US" altLang="en-US" sz="1500"/>
          </a:p>
        </p:txBody>
      </p:sp>
      <p:sp>
        <p:nvSpPr>
          <p:cNvPr id="8" name="Text 4"/>
          <p:cNvSpPr/>
          <p:nvPr/>
        </p:nvSpPr>
        <p:spPr>
          <a:xfrm>
            <a:off x="4881563" y="3373439"/>
            <a:ext cx="2436812" cy="9874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938"/>
              </a:lnSpc>
              <a:defRPr/>
            </a:pPr>
            <a:r>
              <a:rPr lang="en-US" sz="1188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Operasi himpunan seperti irisan, gabungan, selisih, dan komplemen digunakan untuk memanipulasi dan menggabungkan himpunan.</a:t>
            </a:r>
            <a:endParaRPr lang="en-US" sz="1188" dirty="0"/>
          </a:p>
        </p:txBody>
      </p:sp>
      <p:sp>
        <p:nvSpPr>
          <p:cNvPr id="9" name="Text 5"/>
          <p:cNvSpPr>
            <a:spLocks noChangeArrowheads="1"/>
          </p:cNvSpPr>
          <p:nvPr/>
        </p:nvSpPr>
        <p:spPr bwMode="auto">
          <a:xfrm>
            <a:off x="7699375" y="2978150"/>
            <a:ext cx="229235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1875"/>
              </a:lnSpc>
              <a:spcBef>
                <a:spcPct val="0"/>
              </a:spcBef>
              <a:buNone/>
            </a:pPr>
            <a:r>
              <a:rPr lang="en-US" altLang="en-US" sz="1500" b="1">
                <a:solidFill>
                  <a:srgbClr val="231971"/>
                </a:solidFill>
                <a:latin typeface="Outfit Extra Bold" charset="0"/>
              </a:rPr>
              <a:t>Aplikasi dalam Algoritma</a:t>
            </a:r>
            <a:endParaRPr lang="en-US" altLang="en-US" sz="1500"/>
          </a:p>
        </p:txBody>
      </p:sp>
      <p:sp>
        <p:nvSpPr>
          <p:cNvPr id="10" name="Text 6"/>
          <p:cNvSpPr/>
          <p:nvPr/>
        </p:nvSpPr>
        <p:spPr>
          <a:xfrm>
            <a:off x="7699376" y="3373439"/>
            <a:ext cx="2436813" cy="123507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938"/>
              </a:lnSpc>
              <a:defRPr/>
            </a:pPr>
            <a:r>
              <a:rPr lang="en-US" sz="1188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Teori himpunan digunakan dalam pengembangan algoritma seperti algoritma pencarian dan penyortiran, serta dalam struktur data seperti pohon dan graf.</a:t>
            </a:r>
            <a:endParaRPr lang="en-US" sz="1188" dirty="0"/>
          </a:p>
        </p:txBody>
      </p:sp>
    </p:spTree>
    <p:extLst>
      <p:ext uri="{BB962C8B-B14F-4D97-AF65-F5344CB8AC3E}">
        <p14:creationId xmlns:p14="http://schemas.microsoft.com/office/powerpoint/2010/main" val="19142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7251"/>
            <a:ext cx="9144000" cy="136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0"/>
          <p:cNvSpPr/>
          <p:nvPr/>
        </p:nvSpPr>
        <p:spPr>
          <a:xfrm>
            <a:off x="1905001" y="2608263"/>
            <a:ext cx="2727325" cy="34131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>
              <a:lnSpc>
                <a:spcPts val="2656"/>
              </a:lnSpc>
              <a:defRPr/>
            </a:pPr>
            <a:r>
              <a:rPr lang="en-US" sz="2125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Relasi dan Fungsi</a:t>
            </a:r>
            <a:endParaRPr lang="en-US" sz="2125" dirty="0"/>
          </a:p>
        </p:txBody>
      </p:sp>
      <p:sp>
        <p:nvSpPr>
          <p:cNvPr id="6" name="Shape 1"/>
          <p:cNvSpPr>
            <a:spLocks noChangeArrowheads="1"/>
          </p:cNvSpPr>
          <p:nvPr/>
        </p:nvSpPr>
        <p:spPr bwMode="auto">
          <a:xfrm>
            <a:off x="1905000" y="4362450"/>
            <a:ext cx="8382000" cy="14288"/>
          </a:xfrm>
          <a:prstGeom prst="roundRect">
            <a:avLst>
              <a:gd name="adj" fmla="val 320616"/>
            </a:avLst>
          </a:prstGeom>
          <a:solidFill>
            <a:srgbClr val="BDB8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7" name="Shape 2"/>
          <p:cNvSpPr>
            <a:spLocks noChangeArrowheads="1"/>
          </p:cNvSpPr>
          <p:nvPr/>
        </p:nvSpPr>
        <p:spPr bwMode="auto">
          <a:xfrm>
            <a:off x="3541714" y="3981450"/>
            <a:ext cx="14287" cy="381000"/>
          </a:xfrm>
          <a:prstGeom prst="roundRect">
            <a:avLst>
              <a:gd name="adj" fmla="val 320616"/>
            </a:avLst>
          </a:prstGeom>
          <a:solidFill>
            <a:srgbClr val="BDB8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8" name="Shape 3"/>
          <p:cNvSpPr>
            <a:spLocks noChangeArrowheads="1"/>
          </p:cNvSpPr>
          <p:nvPr/>
        </p:nvSpPr>
        <p:spPr bwMode="auto">
          <a:xfrm>
            <a:off x="3425826" y="4240213"/>
            <a:ext cx="246063" cy="246062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9" name="Text 4"/>
          <p:cNvSpPr/>
          <p:nvPr/>
        </p:nvSpPr>
        <p:spPr>
          <a:xfrm>
            <a:off x="3516314" y="4281488"/>
            <a:ext cx="65087" cy="16351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281"/>
              </a:lnSpc>
              <a:defRPr/>
            </a:pPr>
            <a:r>
              <a:rPr lang="en-US" sz="1281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1281" dirty="0"/>
          </a:p>
        </p:txBody>
      </p:sp>
      <p:sp>
        <p:nvSpPr>
          <p:cNvPr id="10" name="Text 5"/>
          <p:cNvSpPr/>
          <p:nvPr/>
        </p:nvSpPr>
        <p:spPr>
          <a:xfrm>
            <a:off x="2867026" y="3113088"/>
            <a:ext cx="1363663" cy="16986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313"/>
              </a:lnSpc>
              <a:defRPr/>
            </a:pPr>
            <a:r>
              <a:rPr lang="en-US" sz="1063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Relasi</a:t>
            </a:r>
            <a:endParaRPr lang="en-US" sz="1063" dirty="0"/>
          </a:p>
        </p:txBody>
      </p:sp>
      <p:sp>
        <p:nvSpPr>
          <p:cNvPr id="11" name="Text 6"/>
          <p:cNvSpPr/>
          <p:nvPr/>
        </p:nvSpPr>
        <p:spPr>
          <a:xfrm>
            <a:off x="2014539" y="3348039"/>
            <a:ext cx="3068637" cy="52387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>
              <a:lnSpc>
                <a:spcPts val="1344"/>
              </a:lnSpc>
              <a:defRPr/>
            </a:pPr>
            <a:r>
              <a:rPr lang="en-US" sz="84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Relasi adalah hubungan antara dua atau lebih himpunan, yang menunjukkan bagaimana elemen-elemen dari satu himpunan terkait dengan elemen-elemen dari himpunan lainnya.</a:t>
            </a:r>
            <a:endParaRPr lang="en-US" sz="844" dirty="0"/>
          </a:p>
        </p:txBody>
      </p:sp>
      <p:sp>
        <p:nvSpPr>
          <p:cNvPr id="12" name="Shape 7"/>
          <p:cNvSpPr>
            <a:spLocks noChangeArrowheads="1"/>
          </p:cNvSpPr>
          <p:nvPr/>
        </p:nvSpPr>
        <p:spPr bwMode="auto">
          <a:xfrm>
            <a:off x="5240339" y="4362450"/>
            <a:ext cx="14287" cy="382588"/>
          </a:xfrm>
          <a:prstGeom prst="roundRect">
            <a:avLst>
              <a:gd name="adj" fmla="val 320616"/>
            </a:avLst>
          </a:prstGeom>
          <a:solidFill>
            <a:srgbClr val="BDB8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13" name="Shape 8"/>
          <p:cNvSpPr>
            <a:spLocks noChangeArrowheads="1"/>
          </p:cNvSpPr>
          <p:nvPr/>
        </p:nvSpPr>
        <p:spPr bwMode="auto">
          <a:xfrm>
            <a:off x="5124451" y="4240213"/>
            <a:ext cx="244475" cy="246062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14" name="Text 9"/>
          <p:cNvSpPr/>
          <p:nvPr/>
        </p:nvSpPr>
        <p:spPr>
          <a:xfrm>
            <a:off x="5199063" y="4281488"/>
            <a:ext cx="95250" cy="16351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281"/>
              </a:lnSpc>
              <a:defRPr/>
            </a:pPr>
            <a:r>
              <a:rPr lang="en-US" sz="1281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1281" dirty="0"/>
          </a:p>
        </p:txBody>
      </p:sp>
      <p:sp>
        <p:nvSpPr>
          <p:cNvPr id="15" name="Text 10"/>
          <p:cNvSpPr/>
          <p:nvPr/>
        </p:nvSpPr>
        <p:spPr>
          <a:xfrm>
            <a:off x="4565651" y="4852988"/>
            <a:ext cx="1363663" cy="1714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313"/>
              </a:lnSpc>
              <a:defRPr/>
            </a:pPr>
            <a:r>
              <a:rPr lang="en-US" sz="1063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Fungsi</a:t>
            </a:r>
            <a:endParaRPr lang="en-US" sz="1063" dirty="0"/>
          </a:p>
        </p:txBody>
      </p:sp>
      <p:sp>
        <p:nvSpPr>
          <p:cNvPr id="16" name="Text 11"/>
          <p:cNvSpPr/>
          <p:nvPr/>
        </p:nvSpPr>
        <p:spPr>
          <a:xfrm>
            <a:off x="3713164" y="5089526"/>
            <a:ext cx="3068637" cy="52387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>
              <a:lnSpc>
                <a:spcPts val="1344"/>
              </a:lnSpc>
              <a:defRPr/>
            </a:pPr>
            <a:r>
              <a:rPr lang="en-US" sz="84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Fungsi adalah jenis relasi khusus yang memasangkan setiap elemen dari satu himpunan (domain) ke satu dan hanya satu elemen dari himpunan lainnya (kodomain).</a:t>
            </a:r>
            <a:endParaRPr lang="en-US" sz="844" dirty="0"/>
          </a:p>
        </p:txBody>
      </p:sp>
      <p:sp>
        <p:nvSpPr>
          <p:cNvPr id="17" name="Shape 12"/>
          <p:cNvSpPr>
            <a:spLocks noChangeArrowheads="1"/>
          </p:cNvSpPr>
          <p:nvPr/>
        </p:nvSpPr>
        <p:spPr bwMode="auto">
          <a:xfrm>
            <a:off x="6937375" y="3981450"/>
            <a:ext cx="14288" cy="381000"/>
          </a:xfrm>
          <a:prstGeom prst="roundRect">
            <a:avLst>
              <a:gd name="adj" fmla="val 320616"/>
            </a:avLst>
          </a:prstGeom>
          <a:solidFill>
            <a:srgbClr val="BDB8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18" name="Shape 13"/>
          <p:cNvSpPr>
            <a:spLocks noChangeArrowheads="1"/>
          </p:cNvSpPr>
          <p:nvPr/>
        </p:nvSpPr>
        <p:spPr bwMode="auto">
          <a:xfrm>
            <a:off x="6821488" y="4240213"/>
            <a:ext cx="246062" cy="246062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19" name="Text 14"/>
          <p:cNvSpPr/>
          <p:nvPr/>
        </p:nvSpPr>
        <p:spPr>
          <a:xfrm>
            <a:off x="6897688" y="4281488"/>
            <a:ext cx="93662" cy="16351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281"/>
              </a:lnSpc>
              <a:defRPr/>
            </a:pPr>
            <a:r>
              <a:rPr lang="en-US" sz="1281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1281" dirty="0"/>
          </a:p>
        </p:txBody>
      </p:sp>
      <p:sp>
        <p:nvSpPr>
          <p:cNvPr id="20" name="Text 15"/>
          <p:cNvSpPr/>
          <p:nvPr/>
        </p:nvSpPr>
        <p:spPr>
          <a:xfrm>
            <a:off x="6262688" y="3287713"/>
            <a:ext cx="1363662" cy="16986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313"/>
              </a:lnSpc>
              <a:defRPr/>
            </a:pPr>
            <a:r>
              <a:rPr lang="en-US" sz="1063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Jenis-Jenis Fungsi</a:t>
            </a:r>
            <a:endParaRPr lang="en-US" sz="1063" dirty="0"/>
          </a:p>
        </p:txBody>
      </p:sp>
      <p:sp>
        <p:nvSpPr>
          <p:cNvPr id="21" name="Text 16"/>
          <p:cNvSpPr/>
          <p:nvPr/>
        </p:nvSpPr>
        <p:spPr>
          <a:xfrm>
            <a:off x="5410200" y="3522663"/>
            <a:ext cx="3068638" cy="34925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>
              <a:lnSpc>
                <a:spcPts val="1344"/>
              </a:lnSpc>
              <a:defRPr/>
            </a:pPr>
            <a:r>
              <a:rPr lang="en-US" sz="84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Ada berbagai jenis fungsi seperti fungsi injektif, fungsi surjektif, dan fungsi bijektif.</a:t>
            </a:r>
            <a:endParaRPr lang="en-US" sz="844" dirty="0"/>
          </a:p>
        </p:txBody>
      </p:sp>
      <p:sp>
        <p:nvSpPr>
          <p:cNvPr id="22" name="Shape 17"/>
          <p:cNvSpPr>
            <a:spLocks noChangeArrowheads="1"/>
          </p:cNvSpPr>
          <p:nvPr/>
        </p:nvSpPr>
        <p:spPr bwMode="auto">
          <a:xfrm>
            <a:off x="8636000" y="4362450"/>
            <a:ext cx="14288" cy="382588"/>
          </a:xfrm>
          <a:prstGeom prst="roundRect">
            <a:avLst>
              <a:gd name="adj" fmla="val 320616"/>
            </a:avLst>
          </a:prstGeom>
          <a:solidFill>
            <a:srgbClr val="BDB8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23" name="Shape 18"/>
          <p:cNvSpPr>
            <a:spLocks noChangeArrowheads="1"/>
          </p:cNvSpPr>
          <p:nvPr/>
        </p:nvSpPr>
        <p:spPr bwMode="auto">
          <a:xfrm>
            <a:off x="8520113" y="4240213"/>
            <a:ext cx="246062" cy="246062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24" name="Text 19"/>
          <p:cNvSpPr/>
          <p:nvPr/>
        </p:nvSpPr>
        <p:spPr>
          <a:xfrm>
            <a:off x="8593138" y="4281488"/>
            <a:ext cx="100012" cy="16351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281"/>
              </a:lnSpc>
              <a:defRPr/>
            </a:pPr>
            <a:r>
              <a:rPr lang="en-US" sz="1281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1281" dirty="0"/>
          </a:p>
        </p:txBody>
      </p:sp>
      <p:sp>
        <p:nvSpPr>
          <p:cNvPr id="25" name="Text 20"/>
          <p:cNvSpPr/>
          <p:nvPr/>
        </p:nvSpPr>
        <p:spPr>
          <a:xfrm>
            <a:off x="7697789" y="4852988"/>
            <a:ext cx="1889125" cy="1714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313"/>
              </a:lnSpc>
              <a:defRPr/>
            </a:pPr>
            <a:r>
              <a:rPr lang="en-US" sz="1063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Aplikasi dalam Pemrograman</a:t>
            </a:r>
            <a:endParaRPr lang="en-US" sz="1063" dirty="0"/>
          </a:p>
        </p:txBody>
      </p:sp>
      <p:sp>
        <p:nvSpPr>
          <p:cNvPr id="26" name="Text 21"/>
          <p:cNvSpPr/>
          <p:nvPr/>
        </p:nvSpPr>
        <p:spPr>
          <a:xfrm>
            <a:off x="7108825" y="5089525"/>
            <a:ext cx="3068638" cy="34925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>
              <a:lnSpc>
                <a:spcPts val="1344"/>
              </a:lnSpc>
              <a:defRPr/>
            </a:pPr>
            <a:r>
              <a:rPr lang="en-US" sz="84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Relasi dan fungsi digunakan dalam pengembangan algoritma, struktur data, dan sistem basis data.</a:t>
            </a:r>
            <a:endParaRPr lang="en-US" sz="844" dirty="0"/>
          </a:p>
        </p:txBody>
      </p:sp>
    </p:spTree>
    <p:extLst>
      <p:ext uri="{BB962C8B-B14F-4D97-AF65-F5344CB8AC3E}">
        <p14:creationId xmlns:p14="http://schemas.microsoft.com/office/powerpoint/2010/main" val="142907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7250"/>
            <a:ext cx="3429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0"/>
          <p:cNvSpPr/>
          <p:nvPr/>
        </p:nvSpPr>
        <p:spPr>
          <a:xfrm>
            <a:off x="5378450" y="1289051"/>
            <a:ext cx="3043238" cy="379413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>
              <a:lnSpc>
                <a:spcPts val="2969"/>
              </a:lnSpc>
              <a:defRPr/>
            </a:pPr>
            <a:r>
              <a:rPr lang="en-US" sz="2375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Logika Proposisional</a:t>
            </a:r>
            <a:endParaRPr lang="en-US" sz="2375" dirty="0"/>
          </a:p>
        </p:txBody>
      </p:sp>
      <p:sp>
        <p:nvSpPr>
          <p:cNvPr id="6" name="Shape 1"/>
          <p:cNvSpPr>
            <a:spLocks noChangeArrowheads="1"/>
          </p:cNvSpPr>
          <p:nvPr/>
        </p:nvSpPr>
        <p:spPr bwMode="auto">
          <a:xfrm>
            <a:off x="5378450" y="1987550"/>
            <a:ext cx="274638" cy="274638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7" name="Text 2"/>
          <p:cNvSpPr/>
          <p:nvPr/>
        </p:nvSpPr>
        <p:spPr>
          <a:xfrm>
            <a:off x="5480050" y="2033588"/>
            <a:ext cx="71438" cy="18256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438"/>
              </a:lnSpc>
              <a:defRPr/>
            </a:pPr>
            <a:r>
              <a:rPr lang="en-US" sz="1438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1438" dirty="0"/>
          </a:p>
        </p:txBody>
      </p:sp>
      <p:sp>
        <p:nvSpPr>
          <p:cNvPr id="8" name="Text 3"/>
          <p:cNvSpPr/>
          <p:nvPr/>
        </p:nvSpPr>
        <p:spPr>
          <a:xfrm>
            <a:off x="5775326" y="1987550"/>
            <a:ext cx="1520825" cy="19050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>
              <a:lnSpc>
                <a:spcPts val="1469"/>
              </a:lnSpc>
              <a:defRPr/>
            </a:pPr>
            <a:r>
              <a:rPr lang="en-US" sz="1188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Konsep Dasar</a:t>
            </a:r>
            <a:endParaRPr lang="en-US" sz="1188" dirty="0"/>
          </a:p>
        </p:txBody>
      </p:sp>
      <p:sp>
        <p:nvSpPr>
          <p:cNvPr id="9" name="Text 4"/>
          <p:cNvSpPr/>
          <p:nvPr/>
        </p:nvSpPr>
        <p:spPr>
          <a:xfrm>
            <a:off x="5775326" y="2251076"/>
            <a:ext cx="4467225" cy="3905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531"/>
              </a:lnSpc>
              <a:defRPr/>
            </a:pPr>
            <a:r>
              <a:rPr lang="en-US" sz="938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Logika proposisional adalah sistem formal untuk merepresentasikan dan menganalisis pernyataan-pernyataan yang benar atau salah.</a:t>
            </a:r>
            <a:endParaRPr lang="en-US" sz="938" dirty="0"/>
          </a:p>
        </p:txBody>
      </p:sp>
      <p:sp>
        <p:nvSpPr>
          <p:cNvPr id="10" name="Shape 5"/>
          <p:cNvSpPr>
            <a:spLocks noChangeArrowheads="1"/>
          </p:cNvSpPr>
          <p:nvPr/>
        </p:nvSpPr>
        <p:spPr bwMode="auto">
          <a:xfrm>
            <a:off x="5378450" y="2898775"/>
            <a:ext cx="274638" cy="274638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11" name="Text 6"/>
          <p:cNvSpPr/>
          <p:nvPr/>
        </p:nvSpPr>
        <p:spPr>
          <a:xfrm>
            <a:off x="5462588" y="2944813"/>
            <a:ext cx="106362" cy="18256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438"/>
              </a:lnSpc>
              <a:defRPr/>
            </a:pPr>
            <a:r>
              <a:rPr lang="en-US" sz="1438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1438" dirty="0"/>
          </a:p>
        </p:txBody>
      </p:sp>
      <p:sp>
        <p:nvSpPr>
          <p:cNvPr id="12" name="Text 7"/>
          <p:cNvSpPr/>
          <p:nvPr/>
        </p:nvSpPr>
        <p:spPr>
          <a:xfrm>
            <a:off x="5775326" y="2898775"/>
            <a:ext cx="1520825" cy="19050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>
              <a:lnSpc>
                <a:spcPts val="1469"/>
              </a:lnSpc>
              <a:defRPr/>
            </a:pPr>
            <a:r>
              <a:rPr lang="en-US" sz="1188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Operator Logika</a:t>
            </a:r>
            <a:endParaRPr lang="en-US" sz="1188" dirty="0"/>
          </a:p>
        </p:txBody>
      </p:sp>
      <p:sp>
        <p:nvSpPr>
          <p:cNvPr id="13" name="Text 8"/>
          <p:cNvSpPr/>
          <p:nvPr/>
        </p:nvSpPr>
        <p:spPr>
          <a:xfrm>
            <a:off x="5775326" y="3162300"/>
            <a:ext cx="4467225" cy="5842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531"/>
              </a:lnSpc>
              <a:defRPr/>
            </a:pPr>
            <a:r>
              <a:rPr lang="en-US" sz="938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Operator logika seperti AND, OR, NOT, dan IMPLIKASI digunakan untuk menghubungkan proposisi-proposisi dan membentuk pernyataan-pernyataan yang lebih kompleks.</a:t>
            </a:r>
            <a:endParaRPr lang="en-US" sz="938" dirty="0"/>
          </a:p>
        </p:txBody>
      </p:sp>
      <p:sp>
        <p:nvSpPr>
          <p:cNvPr id="14" name="Shape 9"/>
          <p:cNvSpPr>
            <a:spLocks noChangeArrowheads="1"/>
          </p:cNvSpPr>
          <p:nvPr/>
        </p:nvSpPr>
        <p:spPr bwMode="auto">
          <a:xfrm>
            <a:off x="5378450" y="4005264"/>
            <a:ext cx="274638" cy="274637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15" name="Text 10"/>
          <p:cNvSpPr/>
          <p:nvPr/>
        </p:nvSpPr>
        <p:spPr>
          <a:xfrm>
            <a:off x="5464175" y="4051301"/>
            <a:ext cx="103188" cy="182563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438"/>
              </a:lnSpc>
              <a:defRPr/>
            </a:pPr>
            <a:r>
              <a:rPr lang="en-US" sz="1438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1438" dirty="0"/>
          </a:p>
        </p:txBody>
      </p:sp>
      <p:sp>
        <p:nvSpPr>
          <p:cNvPr id="16" name="Text 11"/>
          <p:cNvSpPr/>
          <p:nvPr/>
        </p:nvSpPr>
        <p:spPr>
          <a:xfrm>
            <a:off x="5775326" y="4005263"/>
            <a:ext cx="1520825" cy="19050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>
              <a:lnSpc>
                <a:spcPts val="1469"/>
              </a:lnSpc>
              <a:defRPr/>
            </a:pPr>
            <a:r>
              <a:rPr lang="en-US" sz="1188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Tabel Kebenaran</a:t>
            </a:r>
            <a:endParaRPr lang="en-US" sz="1188" dirty="0"/>
          </a:p>
        </p:txBody>
      </p:sp>
      <p:sp>
        <p:nvSpPr>
          <p:cNvPr id="17" name="Text 12"/>
          <p:cNvSpPr/>
          <p:nvPr/>
        </p:nvSpPr>
        <p:spPr>
          <a:xfrm>
            <a:off x="5775326" y="4268789"/>
            <a:ext cx="4467225" cy="388937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531"/>
              </a:lnSpc>
              <a:defRPr/>
            </a:pPr>
            <a:r>
              <a:rPr lang="en-US" sz="938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Tabel kebenaran digunakan untuk menentukan nilai kebenaran suatu pernyataan kompleks berdasarkan nilai kebenaran dari proposisi-proposisi penyusunnya.</a:t>
            </a:r>
            <a:endParaRPr lang="en-US" sz="938" dirty="0"/>
          </a:p>
        </p:txBody>
      </p:sp>
      <p:sp>
        <p:nvSpPr>
          <p:cNvPr id="18" name="Shape 13"/>
          <p:cNvSpPr>
            <a:spLocks noChangeArrowheads="1"/>
          </p:cNvSpPr>
          <p:nvPr/>
        </p:nvSpPr>
        <p:spPr bwMode="auto">
          <a:xfrm>
            <a:off x="5378450" y="4916489"/>
            <a:ext cx="274638" cy="274637"/>
          </a:xfrm>
          <a:prstGeom prst="roundRect">
            <a:avLst>
              <a:gd name="adj" fmla="val 18671"/>
            </a:avLst>
          </a:prstGeom>
          <a:solidFill>
            <a:srgbClr val="E9E6FA"/>
          </a:solidFill>
          <a:ln w="7620">
            <a:solidFill>
              <a:srgbClr val="BDB8DF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D"/>
          </a:p>
        </p:txBody>
      </p:sp>
      <p:sp>
        <p:nvSpPr>
          <p:cNvPr id="19" name="Text 14"/>
          <p:cNvSpPr/>
          <p:nvPr/>
        </p:nvSpPr>
        <p:spPr>
          <a:xfrm>
            <a:off x="5459413" y="4962526"/>
            <a:ext cx="112712" cy="182563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>
              <a:lnSpc>
                <a:spcPts val="1438"/>
              </a:lnSpc>
              <a:defRPr/>
            </a:pPr>
            <a:r>
              <a:rPr lang="en-US" sz="1438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1438" dirty="0"/>
          </a:p>
        </p:txBody>
      </p:sp>
      <p:sp>
        <p:nvSpPr>
          <p:cNvPr id="20" name="Text 15"/>
          <p:cNvSpPr/>
          <p:nvPr/>
        </p:nvSpPr>
        <p:spPr>
          <a:xfrm>
            <a:off x="5775326" y="4916488"/>
            <a:ext cx="1941513" cy="19050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>
              <a:lnSpc>
                <a:spcPts val="1469"/>
              </a:lnSpc>
              <a:defRPr/>
            </a:pPr>
            <a:r>
              <a:rPr lang="en-US" sz="1188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Aplikasi dalam Informatika</a:t>
            </a:r>
            <a:endParaRPr lang="en-US" sz="1188" dirty="0"/>
          </a:p>
        </p:txBody>
      </p:sp>
      <p:sp>
        <p:nvSpPr>
          <p:cNvPr id="21" name="Text 16"/>
          <p:cNvSpPr/>
          <p:nvPr/>
        </p:nvSpPr>
        <p:spPr>
          <a:xfrm>
            <a:off x="5775326" y="5180014"/>
            <a:ext cx="4467225" cy="388937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531"/>
              </a:lnSpc>
              <a:defRPr/>
            </a:pPr>
            <a:r>
              <a:rPr lang="en-US" sz="938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Logika proposisional memiliki aplikasi luas dalam pengembangan perangkat lunak, basis data, dan sistem AI.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259217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Elearning.unwahas.ac.id</a:t>
            </a:r>
          </a:p>
          <a:p>
            <a:endParaRPr lang="en-US" altLang="en-US" dirty="0" smtClean="0"/>
          </a:p>
          <a:p>
            <a:r>
              <a:rPr lang="en-US" altLang="en-US" dirty="0" err="1" smtClean="0"/>
              <a:t>Matematika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diskrit</a:t>
            </a:r>
            <a:r>
              <a:rPr lang="en-US" altLang="en-US" dirty="0" smtClean="0"/>
              <a:t> 2025</a:t>
            </a:r>
          </a:p>
          <a:p>
            <a:r>
              <a:rPr lang="en-US" altLang="en-US" dirty="0" smtClean="0"/>
              <a:t>@kelasA2</a:t>
            </a:r>
          </a:p>
          <a:p>
            <a:r>
              <a:rPr lang="en-US" altLang="en-US" dirty="0" smtClean="0"/>
              <a:t>@kelasA1</a:t>
            </a:r>
          </a:p>
          <a:p>
            <a:r>
              <a:rPr lang="en-US" altLang="en-US" dirty="0" smtClean="0"/>
              <a:t>@kelasB25</a:t>
            </a:r>
            <a:endParaRPr lang="en-ID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2114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838200" y="753035"/>
            <a:ext cx="10515600" cy="937653"/>
          </a:xfrm>
        </p:spPr>
        <p:txBody>
          <a:bodyPr/>
          <a:lstStyle/>
          <a:p>
            <a:r>
              <a:rPr lang="en-US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Garamond Pro Bold" panose="02020702060506020403" pitchFamily="18" charset="0"/>
              </a:rPr>
              <a:t>Himpunan</a:t>
            </a:r>
            <a:endParaRPr lang="en-US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dobe Garamond Pro Bold" panose="02020702060506020403" pitchFamily="18" charset="0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Himpunan adalah koleksi objek yang terdefinisi dengan jelas; artinya, kita selalu dapat menentukan apakah sebuah objek termasuk dalam koleksi atau tidak.</a:t>
            </a:r>
          </a:p>
          <a:p>
            <a:r>
              <a:rPr lang="sv-SE" smtClean="0"/>
              <a:t>Nama himpunan ditulis dengan menggunakan huruf besar A, B, H, S, U, . . . , </a:t>
            </a:r>
          </a:p>
          <a:p>
            <a:r>
              <a:rPr lang="sv-SE" smtClean="0"/>
              <a:t>sedangkan anggota himpunan ditulis dengan huruf kecil a, b, h, s, u, . . . .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5060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838200" y="658906"/>
            <a:ext cx="10515600" cy="1031782"/>
          </a:xfrm>
        </p:spPr>
        <p:txBody>
          <a:bodyPr/>
          <a:lstStyle/>
          <a:p>
            <a:r>
              <a:rPr lang="en-US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Caslon Pro Bold" panose="0205070206050A020403" pitchFamily="18" charset="0"/>
              </a:rPr>
              <a:t>Contoh</a:t>
            </a: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Caslon Pro Bold" panose="0205070206050A020403" pitchFamily="18" charset="0"/>
              </a:rPr>
              <a:t> </a:t>
            </a:r>
            <a:r>
              <a:rPr lang="en-US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Caslon Pro Bold" panose="0205070206050A020403" pitchFamily="18" charset="0"/>
              </a:rPr>
              <a:t>himpunan</a:t>
            </a:r>
            <a:endParaRPr lang="en-US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dobe Caslon Pro Bold" panose="0205070206050A020403" pitchFamily="18" charset="0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latin typeface="Arimo"/>
              </a:rPr>
              <a:t>1. A </a:t>
            </a:r>
            <a:r>
              <a:rPr lang="en-US" dirty="0" err="1" smtClean="0">
                <a:latin typeface="Arimo"/>
              </a:rPr>
              <a:t>adalah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himpunan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bilangan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asli</a:t>
            </a:r>
            <a:r>
              <a:rPr lang="en-US" dirty="0" smtClean="0">
                <a:latin typeface="Arimo"/>
              </a:rPr>
              <a:t> yang </a:t>
            </a:r>
            <a:r>
              <a:rPr lang="en-US" dirty="0" err="1" smtClean="0">
                <a:latin typeface="Arimo"/>
              </a:rPr>
              <a:t>kurang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dari</a:t>
            </a:r>
            <a:r>
              <a:rPr lang="en-US" dirty="0" smtClean="0">
                <a:latin typeface="Arimo"/>
              </a:rPr>
              <a:t> 10.</a:t>
            </a:r>
          </a:p>
          <a:p>
            <a:r>
              <a:rPr lang="en-US" dirty="0" smtClean="0">
                <a:latin typeface="Arimo"/>
              </a:rPr>
              <a:t>2. B </a:t>
            </a:r>
            <a:r>
              <a:rPr lang="en-US" dirty="0" err="1" smtClean="0">
                <a:latin typeface="Arimo"/>
              </a:rPr>
              <a:t>adalah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himpunan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huruf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hidup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dalam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abjad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bahasa</a:t>
            </a:r>
            <a:r>
              <a:rPr lang="en-US" dirty="0" smtClean="0">
                <a:latin typeface="Arimo"/>
              </a:rPr>
              <a:t> Indonesia. </a:t>
            </a:r>
          </a:p>
          <a:p>
            <a:r>
              <a:rPr lang="en-US" dirty="0" smtClean="0">
                <a:latin typeface="Arimo"/>
              </a:rPr>
              <a:t>3. C </a:t>
            </a:r>
            <a:r>
              <a:rPr lang="en-US" dirty="0" err="1" smtClean="0">
                <a:latin typeface="Arimo"/>
              </a:rPr>
              <a:t>adalah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himpunan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kuadrat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bilangan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asli</a:t>
            </a:r>
            <a:r>
              <a:rPr lang="en-US" dirty="0" smtClean="0">
                <a:latin typeface="Arimo"/>
              </a:rPr>
              <a:t>.</a:t>
            </a:r>
          </a:p>
          <a:p>
            <a:r>
              <a:rPr lang="en-US" dirty="0" smtClean="0">
                <a:latin typeface="Arimo"/>
              </a:rPr>
              <a:t>4</a:t>
            </a:r>
            <a:r>
              <a:rPr lang="en-US" dirty="0" smtClean="0">
                <a:latin typeface="Arimo"/>
              </a:rPr>
              <a:t>. K </a:t>
            </a:r>
            <a:r>
              <a:rPr lang="en-US" dirty="0" err="1" smtClean="0">
                <a:latin typeface="Arimo"/>
              </a:rPr>
              <a:t>adalah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himpunan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mahasiswa</a:t>
            </a:r>
            <a:r>
              <a:rPr lang="en-US" dirty="0" smtClean="0">
                <a:latin typeface="Arimo"/>
              </a:rPr>
              <a:t> yang </a:t>
            </a:r>
            <a:r>
              <a:rPr lang="en-US" dirty="0" err="1" smtClean="0">
                <a:latin typeface="Arimo"/>
              </a:rPr>
              <a:t>memiliki</a:t>
            </a:r>
            <a:r>
              <a:rPr lang="en-US" dirty="0" smtClean="0">
                <a:latin typeface="Arimo"/>
              </a:rPr>
              <a:t> IPK </a:t>
            </a:r>
            <a:r>
              <a:rPr lang="en-US" dirty="0" err="1" smtClean="0">
                <a:latin typeface="Arimo"/>
              </a:rPr>
              <a:t>lebih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dari</a:t>
            </a:r>
            <a:r>
              <a:rPr lang="en-US" dirty="0" smtClean="0">
                <a:latin typeface="Arimo"/>
              </a:rPr>
              <a:t> </a:t>
            </a:r>
            <a:r>
              <a:rPr lang="en-US" dirty="0" smtClean="0">
                <a:latin typeface="Arimo"/>
              </a:rPr>
              <a:t>3.</a:t>
            </a:r>
          </a:p>
          <a:p>
            <a:r>
              <a:rPr lang="en-US" dirty="0" smtClean="0">
                <a:latin typeface="Arimo"/>
              </a:rPr>
              <a:t>5</a:t>
            </a:r>
            <a:r>
              <a:rPr lang="en-US" dirty="0">
                <a:latin typeface="Arimo"/>
              </a:rPr>
              <a:t>.  HMJ TI </a:t>
            </a:r>
            <a:r>
              <a:rPr lang="en-US" dirty="0" err="1">
                <a:latin typeface="Arimo"/>
              </a:rPr>
              <a:t>adalah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contoh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sebuah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himpunan</a:t>
            </a:r>
            <a:r>
              <a:rPr lang="en-US" dirty="0">
                <a:latin typeface="Arimo"/>
              </a:rPr>
              <a:t>, di </a:t>
            </a:r>
            <a:r>
              <a:rPr lang="en-US" dirty="0" err="1">
                <a:latin typeface="Arimo"/>
              </a:rPr>
              <a:t>dalamnya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berisi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anggota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berupa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mahasiswa</a:t>
            </a:r>
            <a:r>
              <a:rPr lang="en-US" dirty="0">
                <a:latin typeface="Arimo"/>
              </a:rPr>
              <a:t>. </a:t>
            </a:r>
            <a:r>
              <a:rPr lang="en-US" dirty="0" err="1">
                <a:latin typeface="Arimo"/>
              </a:rPr>
              <a:t>Tiap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mahasiswa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berbeda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satu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sama</a:t>
            </a:r>
            <a:r>
              <a:rPr lang="en-US" dirty="0">
                <a:latin typeface="Arimo"/>
              </a:rPr>
              <a:t> </a:t>
            </a:r>
            <a:r>
              <a:rPr lang="en-US" dirty="0" smtClean="0">
                <a:latin typeface="Arimo"/>
              </a:rPr>
              <a:t>lain</a:t>
            </a:r>
          </a:p>
          <a:p>
            <a:r>
              <a:rPr lang="en-US" dirty="0" smtClean="0">
                <a:latin typeface="Arimo"/>
              </a:rPr>
              <a:t>6</a:t>
            </a:r>
            <a:r>
              <a:rPr lang="en-US" dirty="0">
                <a:latin typeface="Arimo"/>
              </a:rPr>
              <a:t>.  </a:t>
            </a:r>
            <a:r>
              <a:rPr lang="en-US" dirty="0" err="1">
                <a:latin typeface="Arimo"/>
              </a:rPr>
              <a:t>Satu</a:t>
            </a:r>
            <a:r>
              <a:rPr lang="en-US" dirty="0">
                <a:latin typeface="Arimo"/>
              </a:rPr>
              <a:t> set </a:t>
            </a:r>
            <a:r>
              <a:rPr lang="en-US" dirty="0" err="1">
                <a:latin typeface="Arimo"/>
              </a:rPr>
              <a:t>komputer</a:t>
            </a:r>
            <a:r>
              <a:rPr lang="en-US" dirty="0">
                <a:latin typeface="Arimo"/>
              </a:rPr>
              <a:t> desktop </a:t>
            </a:r>
            <a:r>
              <a:rPr lang="en-US" dirty="0" err="1">
                <a:latin typeface="Arimo"/>
              </a:rPr>
              <a:t>terdiri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dari</a:t>
            </a:r>
            <a:r>
              <a:rPr lang="en-US" dirty="0">
                <a:latin typeface="Arimo"/>
              </a:rPr>
              <a:t> CPU, monitor, </a:t>
            </a:r>
            <a:r>
              <a:rPr lang="en-US" dirty="0" err="1">
                <a:latin typeface="Arimo"/>
              </a:rPr>
              <a:t>dan</a:t>
            </a:r>
            <a:r>
              <a:rPr lang="en-US" dirty="0">
                <a:latin typeface="Arimo"/>
              </a:rPr>
              <a:t> keyboard</a:t>
            </a:r>
          </a:p>
          <a:p>
            <a:endParaRPr lang="en-US" dirty="0" smtClean="0"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3260405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n-NO" dirty="0" smtClean="0">
                <a:latin typeface="Arimo"/>
              </a:rPr>
              <a:t>Objek di dalam himpunan disebut elemen, unsur, atau anggota.</a:t>
            </a:r>
          </a:p>
          <a:p>
            <a:r>
              <a:rPr lang="en-US" dirty="0" err="1" smtClean="0">
                <a:latin typeface="Arimo"/>
              </a:rPr>
              <a:t>Untuk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menyatakan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bahwa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sebuah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objek</a:t>
            </a:r>
            <a:r>
              <a:rPr lang="en-US" dirty="0" smtClean="0">
                <a:latin typeface="Arimo"/>
              </a:rPr>
              <a:t> a </a:t>
            </a:r>
            <a:r>
              <a:rPr lang="en-US" dirty="0" err="1" smtClean="0">
                <a:latin typeface="Arimo"/>
              </a:rPr>
              <a:t>adalah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anggota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sebuah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himpunan</a:t>
            </a:r>
            <a:r>
              <a:rPr lang="en-US" dirty="0" smtClean="0">
                <a:latin typeface="Arimo"/>
              </a:rPr>
              <a:t> A </a:t>
            </a:r>
            <a:r>
              <a:rPr lang="en-US" dirty="0" err="1" smtClean="0">
                <a:latin typeface="Arimo"/>
              </a:rPr>
              <a:t>kita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menggunakan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notasi</a:t>
            </a:r>
            <a:r>
              <a:rPr lang="en-US" dirty="0" smtClean="0">
                <a:latin typeface="Arimo"/>
              </a:rPr>
              <a:t> a ∈ A.</a:t>
            </a:r>
          </a:p>
          <a:p>
            <a:r>
              <a:rPr lang="it-IT" dirty="0" smtClean="0">
                <a:latin typeface="Arimo"/>
              </a:rPr>
              <a:t>Sedangkan notasi a ∈ A berarti a bukan anggota himpunan A</a:t>
            </a:r>
            <a:endParaRPr lang="en-US" dirty="0" smtClean="0">
              <a:latin typeface="Arimo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6167438" y="4365626"/>
            <a:ext cx="144462" cy="358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14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/>
          <p:cNvSpPr>
            <a:spLocks noGrp="1"/>
          </p:cNvSpPr>
          <p:nvPr>
            <p:ph idx="1"/>
          </p:nvPr>
        </p:nvSpPr>
        <p:spPr>
          <a:xfrm>
            <a:off x="995082" y="1341438"/>
            <a:ext cx="9215718" cy="4118068"/>
          </a:xfrm>
        </p:spPr>
        <p:txBody>
          <a:bodyPr/>
          <a:lstStyle/>
          <a:p>
            <a:r>
              <a:rPr lang="en-US" dirty="0" err="1" smtClean="0">
                <a:latin typeface="Arimo"/>
              </a:rPr>
              <a:t>Perhatikan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bedanya</a:t>
            </a:r>
            <a:r>
              <a:rPr lang="en-US" dirty="0" smtClean="0">
                <a:latin typeface="Arimo"/>
              </a:rPr>
              <a:t>: {1, 2, 3, 4, 5, 6 } → </a:t>
            </a:r>
            <a:r>
              <a:rPr lang="en-US" dirty="0" err="1" smtClean="0">
                <a:latin typeface="Arimo"/>
              </a:rPr>
              <a:t>Himpunan</a:t>
            </a:r>
            <a:r>
              <a:rPr lang="en-US" dirty="0" smtClean="0">
                <a:latin typeface="Arimo"/>
              </a:rPr>
              <a:t> (set)</a:t>
            </a:r>
          </a:p>
          <a:p>
            <a:r>
              <a:rPr lang="en-US" dirty="0" smtClean="0">
                <a:latin typeface="Arimo"/>
              </a:rPr>
              <a:t> {1, 2, 2, 3, 4, 4, 4, 5, 6} = {1, 2, 3, 4, 5, 6} {1, 2, 2, 3, 4, 4, 4, 5, 6} → </a:t>
            </a:r>
            <a:r>
              <a:rPr lang="en-US" dirty="0" err="1" smtClean="0">
                <a:latin typeface="Arimo"/>
              </a:rPr>
              <a:t>Himpunan-ganda</a:t>
            </a:r>
            <a:r>
              <a:rPr lang="en-US" dirty="0" smtClean="0">
                <a:latin typeface="Arimo"/>
              </a:rPr>
              <a:t> (multi-set) → Ada </a:t>
            </a:r>
            <a:r>
              <a:rPr lang="en-US" dirty="0" err="1" smtClean="0">
                <a:latin typeface="Arimo"/>
              </a:rPr>
              <a:t>elemen</a:t>
            </a:r>
            <a:r>
              <a:rPr lang="en-US" dirty="0" smtClean="0">
                <a:latin typeface="Arimo"/>
              </a:rPr>
              <a:t> yang </a:t>
            </a:r>
            <a:r>
              <a:rPr lang="en-US" dirty="0" err="1" smtClean="0">
                <a:latin typeface="Arimo"/>
              </a:rPr>
              <a:t>berulang</a:t>
            </a:r>
            <a:r>
              <a:rPr lang="en-US" dirty="0" smtClean="0">
                <a:latin typeface="Arimo"/>
              </a:rPr>
              <a:t> (</a:t>
            </a:r>
            <a:r>
              <a:rPr lang="en-US" dirty="0" err="1" smtClean="0">
                <a:latin typeface="Arimo"/>
              </a:rPr>
              <a:t>ganda</a:t>
            </a:r>
            <a:r>
              <a:rPr lang="en-US" dirty="0" smtClean="0">
                <a:latin typeface="Arimo"/>
              </a:rPr>
              <a:t>)</a:t>
            </a:r>
          </a:p>
          <a:p>
            <a:r>
              <a:rPr lang="en-US" dirty="0" err="1" smtClean="0">
                <a:latin typeface="Arimo"/>
              </a:rPr>
              <a:t>Urutan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elemen</a:t>
            </a:r>
            <a:r>
              <a:rPr lang="en-US" dirty="0" smtClean="0">
                <a:latin typeface="Arimo"/>
              </a:rPr>
              <a:t> di </a:t>
            </a:r>
            <a:r>
              <a:rPr lang="en-US" dirty="0" err="1" smtClean="0">
                <a:latin typeface="Arimo"/>
              </a:rPr>
              <a:t>dalam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himpunan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tidak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penting</a:t>
            </a:r>
            <a:r>
              <a:rPr lang="en-US" dirty="0" smtClean="0">
                <a:latin typeface="Arimo"/>
              </a:rPr>
              <a:t> {a, b, c, d} = {d, b, a, c} </a:t>
            </a:r>
          </a:p>
        </p:txBody>
      </p:sp>
    </p:spTree>
    <p:extLst>
      <p:ext uri="{BB962C8B-B14F-4D97-AF65-F5344CB8AC3E}">
        <p14:creationId xmlns:p14="http://schemas.microsoft.com/office/powerpoint/2010/main" val="84179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Arimo"/>
              </a:rPr>
              <a:t>Setiap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elemen</a:t>
            </a:r>
            <a:r>
              <a:rPr lang="en-US" dirty="0" smtClean="0">
                <a:latin typeface="Arimo"/>
              </a:rPr>
              <a:t> di </a:t>
            </a:r>
            <a:r>
              <a:rPr lang="en-US" dirty="0" err="1" smtClean="0">
                <a:latin typeface="Arimo"/>
              </a:rPr>
              <a:t>dalam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himpunan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boleh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tidak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berkorelasi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satu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sama</a:t>
            </a:r>
            <a:r>
              <a:rPr lang="en-US" dirty="0" smtClean="0">
                <a:latin typeface="Arimo"/>
              </a:rPr>
              <a:t> lain, yang </a:t>
            </a:r>
            <a:r>
              <a:rPr lang="en-US" dirty="0" err="1" smtClean="0">
                <a:latin typeface="Arimo"/>
              </a:rPr>
              <a:t>penting</a:t>
            </a:r>
            <a:r>
              <a:rPr lang="en-US" dirty="0" smtClean="0">
                <a:latin typeface="Arimo"/>
              </a:rPr>
              <a:t> BERBEDA </a:t>
            </a:r>
            <a:r>
              <a:rPr lang="en-US" dirty="0" err="1" smtClean="0">
                <a:latin typeface="Arimo"/>
              </a:rPr>
              <a:t>satu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sama</a:t>
            </a:r>
            <a:r>
              <a:rPr lang="en-US" dirty="0" smtClean="0">
                <a:latin typeface="Arimo"/>
              </a:rPr>
              <a:t> lain</a:t>
            </a:r>
          </a:p>
          <a:p>
            <a:r>
              <a:rPr lang="en-US" dirty="0" smtClean="0">
                <a:latin typeface="Arimo"/>
              </a:rPr>
              <a:t> { 56, Rp3000, Amir, </a:t>
            </a:r>
            <a:r>
              <a:rPr lang="en-US" dirty="0" err="1" smtClean="0">
                <a:latin typeface="Arimo"/>
              </a:rPr>
              <a:t>cacing</a:t>
            </a:r>
            <a:r>
              <a:rPr lang="en-US" dirty="0" smtClean="0">
                <a:latin typeface="Arimo"/>
              </a:rPr>
              <a:t>, Silver Queen,    , </a:t>
            </a:r>
            <a:r>
              <a:rPr lang="en-US" dirty="0" err="1" smtClean="0">
                <a:latin typeface="Arimo"/>
              </a:rPr>
              <a:t>paku</a:t>
            </a:r>
            <a:r>
              <a:rPr lang="en-US" dirty="0" smtClean="0">
                <a:latin typeface="Arimo"/>
              </a:rPr>
              <a:t>}</a:t>
            </a:r>
          </a:p>
          <a:p>
            <a:endParaRPr lang="en-US" dirty="0" smtClean="0"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56913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838200" y="618565"/>
            <a:ext cx="10515600" cy="1072123"/>
          </a:xfrm>
        </p:spPr>
        <p:txBody>
          <a:bodyPr/>
          <a:lstStyle/>
          <a:p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Caslon Pro Bold" panose="0205070206050A020403" pitchFamily="18" charset="0"/>
              </a:rPr>
              <a:t>Cara </a:t>
            </a:r>
            <a:r>
              <a:rPr lang="en-US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Caslon Pro Bold" panose="0205070206050A020403" pitchFamily="18" charset="0"/>
              </a:rPr>
              <a:t>penyajian</a:t>
            </a: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Caslon Pro Bold" panose="0205070206050A020403" pitchFamily="18" charset="0"/>
              </a:rPr>
              <a:t> </a:t>
            </a:r>
            <a:r>
              <a:rPr lang="en-US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Caslon Pro Bold" panose="0205070206050A020403" pitchFamily="18" charset="0"/>
              </a:rPr>
              <a:t>Himpunan</a:t>
            </a:r>
            <a:endParaRPr lang="en-US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dobe Caslon Pro Bold" panose="0205070206050A0204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Tx/>
              <a:buAutoNum type="arabicPeriod"/>
              <a:defRPr/>
            </a:pPr>
            <a:r>
              <a:rPr lang="en-US" dirty="0" err="1">
                <a:latin typeface="Arimo"/>
              </a:rPr>
              <a:t>Enumerasi</a:t>
            </a:r>
            <a:endParaRPr lang="en-US" dirty="0">
              <a:latin typeface="Arimo"/>
            </a:endParaRPr>
          </a:p>
          <a:p>
            <a:pPr marL="0" indent="0">
              <a:buNone/>
              <a:defRPr/>
            </a:pPr>
            <a:r>
              <a:rPr lang="en-US" dirty="0" err="1">
                <a:latin typeface="Arimo"/>
              </a:rPr>
              <a:t>Setiap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anggota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himpunan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didaftarkan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secara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rinci</a:t>
            </a:r>
            <a:r>
              <a:rPr lang="en-US" dirty="0">
                <a:latin typeface="Arimo"/>
              </a:rPr>
              <a:t>. </a:t>
            </a:r>
          </a:p>
          <a:p>
            <a:pPr marL="0" indent="0">
              <a:buNone/>
              <a:defRPr/>
            </a:pPr>
            <a:r>
              <a:rPr lang="en-US" dirty="0" err="1">
                <a:latin typeface="Arimo"/>
              </a:rPr>
              <a:t>Contoh</a:t>
            </a:r>
            <a:r>
              <a:rPr lang="en-US" dirty="0">
                <a:latin typeface="Arimo"/>
              </a:rPr>
              <a:t> 1.</a:t>
            </a:r>
          </a:p>
          <a:p>
            <a:pPr marL="0" indent="0">
              <a:buNone/>
              <a:defRPr/>
            </a:pPr>
            <a:r>
              <a:rPr lang="en-US" dirty="0">
                <a:latin typeface="Arimo"/>
              </a:rPr>
              <a:t> - </a:t>
            </a:r>
            <a:r>
              <a:rPr lang="en-US" dirty="0" err="1">
                <a:latin typeface="Arimo"/>
              </a:rPr>
              <a:t>Himpunan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empat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bilangan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asli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pertama</a:t>
            </a:r>
            <a:r>
              <a:rPr lang="en-US" dirty="0">
                <a:latin typeface="Arimo"/>
              </a:rPr>
              <a:t>: A = {1, 2, 3, 4}. </a:t>
            </a:r>
          </a:p>
          <a:p>
            <a:pPr>
              <a:buFontTx/>
              <a:buChar char="-"/>
              <a:defRPr/>
            </a:pPr>
            <a:r>
              <a:rPr lang="en-US" dirty="0" err="1">
                <a:latin typeface="Arimo"/>
              </a:rPr>
              <a:t>Himpunan</a:t>
            </a:r>
            <a:r>
              <a:rPr lang="en-US" dirty="0">
                <a:latin typeface="Arimo"/>
              </a:rPr>
              <a:t> lima </a:t>
            </a:r>
            <a:r>
              <a:rPr lang="en-US" dirty="0" err="1">
                <a:latin typeface="Arimo"/>
              </a:rPr>
              <a:t>bilangan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genap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positif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pertama</a:t>
            </a:r>
            <a:r>
              <a:rPr lang="en-US" dirty="0">
                <a:latin typeface="Arimo"/>
              </a:rPr>
              <a:t>: B = {4, 6, 8, 10}. </a:t>
            </a:r>
          </a:p>
          <a:p>
            <a:pPr>
              <a:buFontTx/>
              <a:buChar char="-"/>
              <a:defRPr/>
            </a:pPr>
            <a:r>
              <a:rPr lang="en-US" dirty="0">
                <a:latin typeface="Arimo"/>
              </a:rPr>
              <a:t>C = {</a:t>
            </a:r>
            <a:r>
              <a:rPr lang="en-US" dirty="0" err="1">
                <a:latin typeface="Arimo"/>
              </a:rPr>
              <a:t>kucing</a:t>
            </a:r>
            <a:r>
              <a:rPr lang="en-US" dirty="0">
                <a:latin typeface="Arimo"/>
              </a:rPr>
              <a:t>, a, Amir, 10, </a:t>
            </a:r>
            <a:r>
              <a:rPr lang="en-US" dirty="0" err="1">
                <a:latin typeface="Arimo"/>
              </a:rPr>
              <a:t>paku</a:t>
            </a:r>
            <a:r>
              <a:rPr lang="en-US" dirty="0">
                <a:latin typeface="Arimo"/>
              </a:rPr>
              <a:t>} </a:t>
            </a:r>
          </a:p>
          <a:p>
            <a:pPr>
              <a:buFontTx/>
              <a:buChar char="-"/>
              <a:defRPr/>
            </a:pPr>
            <a:r>
              <a:rPr lang="en-US" dirty="0">
                <a:latin typeface="Arimo"/>
              </a:rPr>
              <a:t>R = { a, b, {a, b, c}, {a, c} }</a:t>
            </a:r>
          </a:p>
        </p:txBody>
      </p:sp>
    </p:spTree>
    <p:extLst>
      <p:ext uri="{BB962C8B-B14F-4D97-AF65-F5344CB8AC3E}">
        <p14:creationId xmlns:p14="http://schemas.microsoft.com/office/powerpoint/2010/main" val="9784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mo"/>
              </a:rPr>
              <a:t>C = {a, {a}, {{a}} }</a:t>
            </a:r>
          </a:p>
          <a:p>
            <a:r>
              <a:rPr lang="en-US" dirty="0" smtClean="0">
                <a:latin typeface="Arimo"/>
              </a:rPr>
              <a:t>K = { {} }</a:t>
            </a:r>
          </a:p>
          <a:p>
            <a:r>
              <a:rPr lang="en-US" dirty="0" err="1" smtClean="0">
                <a:latin typeface="Arimo"/>
              </a:rPr>
              <a:t>Himpunan</a:t>
            </a:r>
            <a:r>
              <a:rPr lang="en-US" dirty="0" smtClean="0">
                <a:latin typeface="Arimo"/>
              </a:rPr>
              <a:t> 100 </a:t>
            </a:r>
            <a:r>
              <a:rPr lang="en-US" dirty="0" err="1" smtClean="0">
                <a:latin typeface="Arimo"/>
              </a:rPr>
              <a:t>buah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bilangan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asli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pertama</a:t>
            </a:r>
            <a:r>
              <a:rPr lang="en-US" dirty="0" smtClean="0">
                <a:latin typeface="Arimo"/>
              </a:rPr>
              <a:t>: {1, 2, ..., 100 }</a:t>
            </a:r>
          </a:p>
          <a:p>
            <a:r>
              <a:rPr lang="en-US" dirty="0" err="1" smtClean="0">
                <a:latin typeface="Arimo"/>
              </a:rPr>
              <a:t>Himpunan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bilangan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bulat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ditulis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sebagai</a:t>
            </a:r>
            <a:r>
              <a:rPr lang="en-US" dirty="0" smtClean="0">
                <a:latin typeface="Arimo"/>
              </a:rPr>
              <a:t> {…, -2, -1, 0, 1, 2, …}</a:t>
            </a:r>
          </a:p>
          <a:p>
            <a:endParaRPr lang="en-US" dirty="0" smtClean="0"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800300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mo"/>
              </a:rPr>
              <a:t>2. </a:t>
            </a:r>
            <a:r>
              <a:rPr lang="en-US" sz="2400" dirty="0" err="1">
                <a:latin typeface="Arimo"/>
              </a:rPr>
              <a:t>Simbol-simbol</a:t>
            </a:r>
            <a:r>
              <a:rPr lang="en-US" sz="2400" dirty="0">
                <a:latin typeface="Arimo"/>
              </a:rPr>
              <a:t> Baku </a:t>
            </a:r>
          </a:p>
          <a:p>
            <a:r>
              <a:rPr lang="en-US" sz="2400" dirty="0">
                <a:latin typeface="Arimo"/>
              </a:rPr>
              <a:t>P = </a:t>
            </a:r>
            <a:r>
              <a:rPr lang="en-US" sz="2400" dirty="0" err="1">
                <a:latin typeface="Arimo"/>
              </a:rPr>
              <a:t>himpunan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bilangan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bulat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positif</a:t>
            </a:r>
            <a:r>
              <a:rPr lang="en-US" sz="2400" dirty="0">
                <a:latin typeface="Arimo"/>
              </a:rPr>
              <a:t> = { 1, 2, 3, ... } </a:t>
            </a:r>
          </a:p>
          <a:p>
            <a:r>
              <a:rPr lang="en-US" sz="2400" dirty="0">
                <a:latin typeface="Arimo"/>
              </a:rPr>
              <a:t>N = </a:t>
            </a:r>
            <a:r>
              <a:rPr lang="en-US" sz="2400" dirty="0" err="1">
                <a:latin typeface="Arimo"/>
              </a:rPr>
              <a:t>himpunan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bilangan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alami</a:t>
            </a:r>
            <a:r>
              <a:rPr lang="en-US" sz="2400" dirty="0">
                <a:latin typeface="Arimo"/>
              </a:rPr>
              <a:t> (natural) = { 1, 2, ... } </a:t>
            </a:r>
          </a:p>
          <a:p>
            <a:r>
              <a:rPr lang="en-US" sz="2400" dirty="0">
                <a:latin typeface="Arimo"/>
              </a:rPr>
              <a:t>Z = </a:t>
            </a:r>
            <a:r>
              <a:rPr lang="en-US" sz="2400" dirty="0" err="1">
                <a:latin typeface="Arimo"/>
              </a:rPr>
              <a:t>himpunan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bilangan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bulat</a:t>
            </a:r>
            <a:r>
              <a:rPr lang="en-US" sz="2400" dirty="0">
                <a:latin typeface="Arimo"/>
              </a:rPr>
              <a:t> = { ..., -2, -1, 0, 1, 2, ... } </a:t>
            </a:r>
          </a:p>
          <a:p>
            <a:r>
              <a:rPr lang="en-US" sz="2400" dirty="0">
                <a:latin typeface="Arimo"/>
              </a:rPr>
              <a:t>Z</a:t>
            </a:r>
            <a:r>
              <a:rPr lang="en-US" sz="1800" dirty="0">
                <a:latin typeface="Arimo"/>
              </a:rPr>
              <a:t>+</a:t>
            </a:r>
            <a:r>
              <a:rPr lang="en-US" sz="2400" dirty="0">
                <a:latin typeface="Arimo"/>
              </a:rPr>
              <a:t> = </a:t>
            </a:r>
            <a:r>
              <a:rPr lang="en-US" sz="2400" dirty="0" err="1">
                <a:latin typeface="Arimo"/>
              </a:rPr>
              <a:t>himpunan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bilangan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bulat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positif</a:t>
            </a:r>
            <a:r>
              <a:rPr lang="en-US" sz="2400" dirty="0">
                <a:latin typeface="Arimo"/>
              </a:rPr>
              <a:t> = {1, 2, 3, … } </a:t>
            </a:r>
          </a:p>
          <a:p>
            <a:r>
              <a:rPr lang="en-US" sz="2400" dirty="0">
                <a:latin typeface="Arimo"/>
              </a:rPr>
              <a:t>Q = </a:t>
            </a:r>
            <a:r>
              <a:rPr lang="en-US" sz="2400" dirty="0" err="1">
                <a:latin typeface="Arimo"/>
              </a:rPr>
              <a:t>himpunan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bilangan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rasional</a:t>
            </a:r>
            <a:r>
              <a:rPr lang="en-US" sz="2400" dirty="0">
                <a:latin typeface="Arimo"/>
              </a:rPr>
              <a:t> = {a/b | a, b ∈ Z </a:t>
            </a:r>
            <a:r>
              <a:rPr lang="en-US" sz="2400" dirty="0" err="1">
                <a:latin typeface="Arimo"/>
              </a:rPr>
              <a:t>dan</a:t>
            </a:r>
            <a:r>
              <a:rPr lang="en-US" sz="2400" dirty="0">
                <a:latin typeface="Arimo"/>
              </a:rPr>
              <a:t> b ≠0} = {…, -3/4, -4/5, 2/3, 1/2, … } = {…, -0.6, -0.8, 0.666…}</a:t>
            </a:r>
          </a:p>
          <a:p>
            <a:r>
              <a:rPr lang="en-US" sz="2400" dirty="0">
                <a:latin typeface="Arimo"/>
              </a:rPr>
              <a:t>R = </a:t>
            </a:r>
            <a:r>
              <a:rPr lang="en-US" sz="2400" dirty="0" err="1">
                <a:latin typeface="Arimo"/>
              </a:rPr>
              <a:t>himpunan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bilangan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riil</a:t>
            </a:r>
            <a:r>
              <a:rPr lang="en-US" sz="2400" dirty="0">
                <a:latin typeface="Arimo"/>
              </a:rPr>
              <a:t> </a:t>
            </a:r>
          </a:p>
          <a:p>
            <a:r>
              <a:rPr lang="en-US" sz="2400" dirty="0">
                <a:latin typeface="Arimo"/>
              </a:rPr>
              <a:t>R</a:t>
            </a:r>
            <a:r>
              <a:rPr lang="en-US" sz="2400" baseline="30000" dirty="0">
                <a:latin typeface="Arimo"/>
              </a:rPr>
              <a:t>+</a:t>
            </a:r>
            <a:r>
              <a:rPr lang="en-US" sz="2400" dirty="0">
                <a:latin typeface="Arimo"/>
              </a:rPr>
              <a:t> = </a:t>
            </a:r>
            <a:r>
              <a:rPr lang="en-US" sz="2400" dirty="0" err="1">
                <a:latin typeface="Arimo"/>
              </a:rPr>
              <a:t>himpunan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bilangan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riil</a:t>
            </a:r>
            <a:r>
              <a:rPr lang="en-US" sz="2400" dirty="0">
                <a:latin typeface="Arimo"/>
              </a:rPr>
              <a:t> </a:t>
            </a:r>
            <a:r>
              <a:rPr lang="en-US" sz="2400" dirty="0" err="1">
                <a:latin typeface="Arimo"/>
              </a:rPr>
              <a:t>positif</a:t>
            </a:r>
            <a:r>
              <a:rPr lang="en-US" sz="2400" dirty="0">
                <a:latin typeface="Arim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924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mo"/>
              </a:rPr>
              <a:t>C = </a:t>
            </a:r>
            <a:r>
              <a:rPr lang="en-US" dirty="0" err="1">
                <a:latin typeface="Arimo"/>
              </a:rPr>
              <a:t>himpunan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bilangan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kompleks</a:t>
            </a:r>
            <a:r>
              <a:rPr lang="en-US" dirty="0">
                <a:latin typeface="Arimo"/>
              </a:rPr>
              <a:t> = {a + bi | a, </a:t>
            </a:r>
            <a:r>
              <a:rPr lang="en-US" dirty="0" smtClean="0">
                <a:latin typeface="Arimo"/>
              </a:rPr>
              <a:t>b</a:t>
            </a:r>
            <a:r>
              <a:rPr lang="en-US" dirty="0">
                <a:latin typeface="Arimo"/>
              </a:rPr>
              <a:t> ∈</a:t>
            </a:r>
            <a:r>
              <a:rPr lang="en-US" dirty="0" smtClean="0">
                <a:latin typeface="Arimo"/>
              </a:rPr>
              <a:t> R}</a:t>
            </a:r>
          </a:p>
          <a:p>
            <a:pPr marL="0" indent="0">
              <a:buNone/>
              <a:defRPr/>
            </a:pPr>
            <a:endParaRPr lang="en-US" dirty="0" smtClean="0">
              <a:latin typeface="Arimo"/>
            </a:endParaRPr>
          </a:p>
          <a:p>
            <a:pPr>
              <a:defRPr/>
            </a:pPr>
            <a:r>
              <a:rPr lang="en-US" dirty="0" smtClean="0">
                <a:latin typeface="Arimo"/>
              </a:rPr>
              <a:t> </a:t>
            </a:r>
            <a:r>
              <a:rPr lang="en-US" dirty="0" err="1">
                <a:latin typeface="Arimo"/>
              </a:rPr>
              <a:t>Himpunan</a:t>
            </a:r>
            <a:r>
              <a:rPr lang="en-US" dirty="0">
                <a:latin typeface="Arimo"/>
              </a:rPr>
              <a:t> yang universal: </a:t>
            </a:r>
            <a:r>
              <a:rPr lang="en-US" dirty="0" err="1">
                <a:latin typeface="Arimo"/>
              </a:rPr>
              <a:t>semesta</a:t>
            </a:r>
            <a:r>
              <a:rPr lang="en-US" dirty="0">
                <a:latin typeface="Arimo"/>
              </a:rPr>
              <a:t>, </a:t>
            </a:r>
            <a:r>
              <a:rPr lang="en-US" dirty="0" err="1">
                <a:latin typeface="Arimo"/>
              </a:rPr>
              <a:t>disimbolkan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dengan</a:t>
            </a:r>
            <a:r>
              <a:rPr lang="en-US" dirty="0">
                <a:latin typeface="Arimo"/>
              </a:rPr>
              <a:t> U </a:t>
            </a:r>
            <a:r>
              <a:rPr lang="en-US" dirty="0" err="1">
                <a:latin typeface="Arimo"/>
              </a:rPr>
              <a:t>atau</a:t>
            </a:r>
            <a:r>
              <a:rPr lang="en-US" dirty="0">
                <a:latin typeface="Arimo"/>
              </a:rPr>
              <a:t> S. </a:t>
            </a:r>
            <a:endParaRPr lang="en-US" dirty="0" smtClean="0">
              <a:latin typeface="Arimo"/>
            </a:endParaRPr>
          </a:p>
          <a:p>
            <a:pPr>
              <a:defRPr/>
            </a:pPr>
            <a:r>
              <a:rPr lang="en-US" dirty="0" err="1" smtClean="0">
                <a:latin typeface="Arimo"/>
              </a:rPr>
              <a:t>Contoh</a:t>
            </a:r>
            <a:r>
              <a:rPr lang="en-US" dirty="0">
                <a:latin typeface="Arimo"/>
              </a:rPr>
              <a:t>: </a:t>
            </a:r>
            <a:r>
              <a:rPr lang="en-US" dirty="0" err="1">
                <a:latin typeface="Arimo"/>
              </a:rPr>
              <a:t>Misalkan</a:t>
            </a:r>
            <a:r>
              <a:rPr lang="en-US" dirty="0">
                <a:latin typeface="Arimo"/>
              </a:rPr>
              <a:t> U = {1, 2, 3, 4, 5} </a:t>
            </a:r>
            <a:r>
              <a:rPr lang="en-US" dirty="0" err="1">
                <a:latin typeface="Arimo"/>
              </a:rPr>
              <a:t>dan</a:t>
            </a:r>
            <a:r>
              <a:rPr lang="en-US" dirty="0">
                <a:latin typeface="Arimo"/>
              </a:rPr>
              <a:t> A </a:t>
            </a:r>
            <a:r>
              <a:rPr lang="en-US" dirty="0" err="1">
                <a:latin typeface="Arimo"/>
              </a:rPr>
              <a:t>adalah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himpunan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bagian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dari</a:t>
            </a:r>
            <a:r>
              <a:rPr lang="en-US" dirty="0">
                <a:latin typeface="Arimo"/>
              </a:rPr>
              <a:t> U, </a:t>
            </a:r>
            <a:r>
              <a:rPr lang="en-US" dirty="0" err="1">
                <a:latin typeface="Arimo"/>
              </a:rPr>
              <a:t>dengan</a:t>
            </a:r>
            <a:r>
              <a:rPr lang="en-US" dirty="0">
                <a:latin typeface="Arimo"/>
              </a:rPr>
              <a:t> A = {1, 3, 5}</a:t>
            </a:r>
          </a:p>
          <a:p>
            <a:pPr>
              <a:defRPr/>
            </a:pPr>
            <a:endParaRPr lang="en-US" dirty="0"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291429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8435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mo"/>
              </a:rPr>
              <a:t>3. </a:t>
            </a:r>
            <a:r>
              <a:rPr lang="en-US" b="1" i="1" dirty="0" err="1">
                <a:latin typeface="Arimo"/>
              </a:rPr>
              <a:t>Notasi</a:t>
            </a:r>
            <a:r>
              <a:rPr lang="en-US" b="1" i="1" dirty="0">
                <a:latin typeface="Arimo"/>
              </a:rPr>
              <a:t> </a:t>
            </a:r>
            <a:r>
              <a:rPr lang="en-US" b="1" i="1" dirty="0" err="1">
                <a:latin typeface="Arimo"/>
              </a:rPr>
              <a:t>Pembentuk</a:t>
            </a:r>
            <a:r>
              <a:rPr lang="en-US" b="1" i="1" dirty="0">
                <a:latin typeface="Arimo"/>
              </a:rPr>
              <a:t> </a:t>
            </a:r>
            <a:r>
              <a:rPr lang="en-US" b="1" i="1" dirty="0" err="1">
                <a:latin typeface="Arimo"/>
              </a:rPr>
              <a:t>Himpunan</a:t>
            </a:r>
            <a:r>
              <a:rPr lang="en-US" b="1" i="1" dirty="0">
                <a:latin typeface="Arimo"/>
              </a:rPr>
              <a:t/>
            </a:r>
            <a:br>
              <a:rPr lang="en-US" b="1" i="1" dirty="0">
                <a:latin typeface="Arimo"/>
              </a:rPr>
            </a:br>
            <a:r>
              <a:rPr lang="en-US" dirty="0">
                <a:latin typeface="Arimo"/>
              </a:rPr>
              <a:t>• </a:t>
            </a:r>
            <a:r>
              <a:rPr lang="en-US" dirty="0" err="1">
                <a:latin typeface="Arimo"/>
              </a:rPr>
              <a:t>Notasi</a:t>
            </a:r>
            <a:r>
              <a:rPr lang="en-US" dirty="0">
                <a:latin typeface="Arimo"/>
              </a:rPr>
              <a:t>: { </a:t>
            </a:r>
            <a:r>
              <a:rPr lang="en-US" i="1" dirty="0">
                <a:latin typeface="Arimo"/>
              </a:rPr>
              <a:t>x </a:t>
            </a:r>
            <a:r>
              <a:rPr lang="en-US" dirty="0">
                <a:latin typeface="Arimo"/>
              </a:rPr>
              <a:t>│ </a:t>
            </a:r>
            <a:r>
              <a:rPr lang="en-US" dirty="0" err="1">
                <a:latin typeface="Arimo"/>
              </a:rPr>
              <a:t>syarat</a:t>
            </a:r>
            <a:r>
              <a:rPr lang="en-US" dirty="0">
                <a:latin typeface="Arimo"/>
              </a:rPr>
              <a:t> yang </a:t>
            </a:r>
            <a:r>
              <a:rPr lang="en-US" dirty="0" err="1">
                <a:latin typeface="Arimo"/>
              </a:rPr>
              <a:t>harus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dipenuhi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oleh</a:t>
            </a:r>
            <a:r>
              <a:rPr lang="en-US" dirty="0">
                <a:latin typeface="Arimo"/>
              </a:rPr>
              <a:t> </a:t>
            </a:r>
            <a:r>
              <a:rPr lang="en-US" i="1" dirty="0">
                <a:latin typeface="Arimo"/>
              </a:rPr>
              <a:t>x </a:t>
            </a:r>
            <a:r>
              <a:rPr lang="en-US" dirty="0">
                <a:latin typeface="Arimo"/>
              </a:rPr>
              <a:t>}</a:t>
            </a:r>
            <a:br>
              <a:rPr lang="en-US" dirty="0">
                <a:latin typeface="Arimo"/>
              </a:rPr>
            </a:br>
            <a:r>
              <a:rPr lang="en-US" b="1" dirty="0" err="1">
                <a:latin typeface="Arimo"/>
              </a:rPr>
              <a:t>Contoh</a:t>
            </a:r>
            <a:r>
              <a:rPr lang="en-US" b="1" dirty="0">
                <a:latin typeface="Arimo"/>
              </a:rPr>
              <a:t> 4.</a:t>
            </a:r>
            <a:br>
              <a:rPr lang="en-US" b="1" dirty="0">
                <a:latin typeface="Arimo"/>
              </a:rPr>
            </a:br>
            <a:r>
              <a:rPr lang="en-US" dirty="0">
                <a:latin typeface="Arimo"/>
              </a:rPr>
              <a:t>(</a:t>
            </a:r>
            <a:r>
              <a:rPr lang="en-US" dirty="0" err="1">
                <a:latin typeface="Arimo"/>
              </a:rPr>
              <a:t>i</a:t>
            </a:r>
            <a:r>
              <a:rPr lang="en-US" dirty="0">
                <a:latin typeface="Arimo"/>
              </a:rPr>
              <a:t>) </a:t>
            </a:r>
            <a:r>
              <a:rPr lang="en-US" i="1" dirty="0">
                <a:latin typeface="Arimo"/>
              </a:rPr>
              <a:t>A </a:t>
            </a:r>
            <a:r>
              <a:rPr lang="en-US" dirty="0" err="1">
                <a:latin typeface="Arimo"/>
              </a:rPr>
              <a:t>adalah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himpunan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bilangan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bulat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positif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kecil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dari</a:t>
            </a:r>
            <a:r>
              <a:rPr lang="en-US" dirty="0">
                <a:latin typeface="Arimo"/>
              </a:rPr>
              <a:t> 5</a:t>
            </a:r>
            <a:br>
              <a:rPr lang="en-US" dirty="0">
                <a:latin typeface="Arimo"/>
              </a:rPr>
            </a:br>
            <a:r>
              <a:rPr lang="en-US" i="1" dirty="0">
                <a:latin typeface="Arimo"/>
              </a:rPr>
              <a:t>A </a:t>
            </a:r>
            <a:r>
              <a:rPr lang="en-US" dirty="0">
                <a:latin typeface="Arimo"/>
              </a:rPr>
              <a:t>= { </a:t>
            </a:r>
            <a:r>
              <a:rPr lang="en-US" i="1" dirty="0">
                <a:latin typeface="Arimo"/>
              </a:rPr>
              <a:t>x </a:t>
            </a:r>
            <a:r>
              <a:rPr lang="en-US" dirty="0">
                <a:latin typeface="Arimo"/>
              </a:rPr>
              <a:t>| </a:t>
            </a:r>
            <a:r>
              <a:rPr lang="en-US" i="1" dirty="0">
                <a:latin typeface="Arimo"/>
              </a:rPr>
              <a:t>x </a:t>
            </a:r>
            <a:r>
              <a:rPr lang="en-US" dirty="0" err="1">
                <a:latin typeface="Arimo"/>
              </a:rPr>
              <a:t>adalah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bilangan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bulat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positif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lebih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kecil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dari</a:t>
            </a:r>
            <a:r>
              <a:rPr lang="en-US" dirty="0">
                <a:latin typeface="Arimo"/>
              </a:rPr>
              <a:t> 5}</a:t>
            </a:r>
            <a:br>
              <a:rPr lang="en-US" dirty="0">
                <a:latin typeface="Arimo"/>
              </a:rPr>
            </a:br>
            <a:r>
              <a:rPr lang="en-US" dirty="0" err="1">
                <a:latin typeface="Arimo"/>
              </a:rPr>
              <a:t>atau</a:t>
            </a:r>
            <a:r>
              <a:rPr lang="en-US" dirty="0">
                <a:latin typeface="Arimo"/>
              </a:rPr>
              <a:t> </a:t>
            </a:r>
            <a:r>
              <a:rPr lang="en-US" i="1" dirty="0">
                <a:latin typeface="Arimo"/>
              </a:rPr>
              <a:t>A </a:t>
            </a:r>
            <a:r>
              <a:rPr lang="en-US" dirty="0">
                <a:latin typeface="Arimo"/>
              </a:rPr>
              <a:t>= { </a:t>
            </a:r>
            <a:r>
              <a:rPr lang="en-US" i="1" dirty="0">
                <a:latin typeface="Arimo"/>
              </a:rPr>
              <a:t>x </a:t>
            </a:r>
            <a:r>
              <a:rPr lang="en-US" dirty="0">
                <a:latin typeface="Arimo"/>
              </a:rPr>
              <a:t>| </a:t>
            </a:r>
            <a:r>
              <a:rPr lang="en-US" i="1" dirty="0">
                <a:latin typeface="Arimo"/>
              </a:rPr>
              <a:t>x </a:t>
            </a:r>
            <a:r>
              <a:rPr lang="en-US" dirty="0">
                <a:latin typeface="Arimo"/>
              </a:rPr>
              <a:t>∈ </a:t>
            </a:r>
            <a:r>
              <a:rPr lang="en-US" b="1" dirty="0">
                <a:latin typeface="Arimo"/>
              </a:rPr>
              <a:t>P</a:t>
            </a:r>
            <a:r>
              <a:rPr lang="en-US" dirty="0">
                <a:latin typeface="Arimo"/>
              </a:rPr>
              <a:t>, </a:t>
            </a:r>
            <a:r>
              <a:rPr lang="en-US" i="1" dirty="0">
                <a:latin typeface="Arimo"/>
              </a:rPr>
              <a:t>x </a:t>
            </a:r>
            <a:r>
              <a:rPr lang="en-US" dirty="0">
                <a:latin typeface="Arimo"/>
              </a:rPr>
              <a:t>&lt; 5 } = {1, 2, 3, 4}</a:t>
            </a:r>
            <a:br>
              <a:rPr lang="en-US" dirty="0">
                <a:latin typeface="Arimo"/>
              </a:rPr>
            </a:br>
            <a:r>
              <a:rPr lang="en-US" dirty="0">
                <a:latin typeface="Arimo"/>
              </a:rPr>
              <a:t>(ii) </a:t>
            </a:r>
            <a:r>
              <a:rPr lang="en-US" i="1" dirty="0">
                <a:latin typeface="Arimo"/>
              </a:rPr>
              <a:t>M </a:t>
            </a:r>
            <a:r>
              <a:rPr lang="en-US" dirty="0">
                <a:latin typeface="Arimo"/>
              </a:rPr>
              <a:t>= { </a:t>
            </a:r>
            <a:r>
              <a:rPr lang="en-US" i="1" dirty="0">
                <a:latin typeface="Arimo"/>
              </a:rPr>
              <a:t>x </a:t>
            </a:r>
            <a:r>
              <a:rPr lang="en-US" dirty="0">
                <a:latin typeface="Arimo"/>
              </a:rPr>
              <a:t>| </a:t>
            </a:r>
            <a:r>
              <a:rPr lang="en-US" i="1" dirty="0">
                <a:latin typeface="Arimo"/>
              </a:rPr>
              <a:t>x </a:t>
            </a:r>
            <a:r>
              <a:rPr lang="en-US" dirty="0" err="1">
                <a:latin typeface="Arimo"/>
              </a:rPr>
              <a:t>adalah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mahasiswa</a:t>
            </a:r>
            <a:r>
              <a:rPr lang="en-US" dirty="0">
                <a:latin typeface="Arimo"/>
              </a:rPr>
              <a:t> yang </a:t>
            </a:r>
            <a:r>
              <a:rPr lang="en-US" dirty="0" err="1">
                <a:latin typeface="Arimo"/>
              </a:rPr>
              <a:t>mengambil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mata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kuliah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Diskrit</a:t>
            </a:r>
            <a:r>
              <a:rPr lang="en-US" dirty="0">
                <a:latin typeface="Arimo"/>
              </a:rPr>
              <a:t>} </a:t>
            </a:r>
            <a:br>
              <a:rPr lang="en-US" dirty="0">
                <a:latin typeface="Arimo"/>
              </a:rPr>
            </a:br>
            <a:endParaRPr lang="en-US" dirty="0"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04316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 i="1" dirty="0" smtClean="0">
                <a:latin typeface="Arimo"/>
              </a:rPr>
              <a:t>4. Diagram Venn</a:t>
            </a:r>
            <a:br>
              <a:rPr lang="nl-NL" b="1" i="1" dirty="0" smtClean="0">
                <a:latin typeface="Arimo"/>
              </a:rPr>
            </a:br>
            <a:r>
              <a:rPr lang="nl-NL" b="1" dirty="0" smtClean="0">
                <a:latin typeface="Arimo"/>
              </a:rPr>
              <a:t>Contoh 5.</a:t>
            </a:r>
            <a:br>
              <a:rPr lang="nl-NL" b="1" dirty="0" smtClean="0">
                <a:latin typeface="Arimo"/>
              </a:rPr>
            </a:br>
            <a:r>
              <a:rPr lang="nl-NL" dirty="0" smtClean="0">
                <a:latin typeface="Arimo"/>
              </a:rPr>
              <a:t>Misalkan U = {1, 2, …, 7, 8},</a:t>
            </a:r>
            <a:br>
              <a:rPr lang="nl-NL" dirty="0" smtClean="0">
                <a:latin typeface="Arimo"/>
              </a:rPr>
            </a:br>
            <a:r>
              <a:rPr lang="nl-NL" i="1" dirty="0" smtClean="0">
                <a:latin typeface="Arimo"/>
              </a:rPr>
              <a:t>A </a:t>
            </a:r>
            <a:r>
              <a:rPr lang="nl-NL" dirty="0" smtClean="0">
                <a:latin typeface="Arimo"/>
              </a:rPr>
              <a:t>= {1, 2, 3, 5} dan </a:t>
            </a:r>
            <a:r>
              <a:rPr lang="nl-NL" i="1" dirty="0" smtClean="0">
                <a:latin typeface="Arimo"/>
              </a:rPr>
              <a:t>B </a:t>
            </a:r>
            <a:r>
              <a:rPr lang="nl-NL" dirty="0" smtClean="0">
                <a:latin typeface="Arimo"/>
              </a:rPr>
              <a:t>= {2, 5, 6, 8}.</a:t>
            </a:r>
            <a:br>
              <a:rPr lang="nl-NL" dirty="0" smtClean="0">
                <a:latin typeface="Arimo"/>
              </a:rPr>
            </a:br>
            <a:r>
              <a:rPr lang="nl-NL" dirty="0" smtClean="0">
                <a:latin typeface="Arimo"/>
              </a:rPr>
              <a:t>Diagram Venn: </a:t>
            </a:r>
            <a:br>
              <a:rPr lang="nl-NL" dirty="0" smtClean="0">
                <a:latin typeface="Arimo"/>
              </a:rPr>
            </a:br>
            <a:endParaRPr lang="en-US" dirty="0" smtClean="0">
              <a:latin typeface="Arimo"/>
            </a:endParaRPr>
          </a:p>
        </p:txBody>
      </p:sp>
      <p:pic>
        <p:nvPicPr>
          <p:cNvPr id="1946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1" y="3846514"/>
            <a:ext cx="34766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161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Kardinalitas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mo"/>
              </a:rPr>
              <a:t>Jumlah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elemen</a:t>
            </a:r>
            <a:r>
              <a:rPr lang="en-US" dirty="0">
                <a:latin typeface="Arimo"/>
              </a:rPr>
              <a:t> di </a:t>
            </a:r>
            <a:r>
              <a:rPr lang="en-US" dirty="0" err="1">
                <a:latin typeface="Arimo"/>
              </a:rPr>
              <a:t>dalam</a:t>
            </a:r>
            <a:r>
              <a:rPr lang="en-US" dirty="0">
                <a:latin typeface="Arimo"/>
              </a:rPr>
              <a:t> </a:t>
            </a:r>
            <a:r>
              <a:rPr lang="en-US" i="1" dirty="0">
                <a:latin typeface="Arimo"/>
              </a:rPr>
              <a:t>A </a:t>
            </a:r>
            <a:r>
              <a:rPr lang="en-US" dirty="0" err="1">
                <a:latin typeface="Arimo"/>
              </a:rPr>
              <a:t>disebut</a:t>
            </a:r>
            <a:r>
              <a:rPr lang="en-US" dirty="0">
                <a:latin typeface="Arimo"/>
              </a:rPr>
              <a:t> </a:t>
            </a:r>
            <a:r>
              <a:rPr lang="en-US" b="1" dirty="0" err="1">
                <a:latin typeface="Arimo"/>
              </a:rPr>
              <a:t>kardinal</a:t>
            </a:r>
            <a:r>
              <a:rPr lang="en-US" b="1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dari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himpunan</a:t>
            </a:r>
            <a:r>
              <a:rPr lang="en-US" dirty="0">
                <a:latin typeface="Arimo"/>
              </a:rPr>
              <a:t> </a:t>
            </a:r>
            <a:r>
              <a:rPr lang="en-US" i="1" dirty="0">
                <a:latin typeface="Arimo"/>
              </a:rPr>
              <a:t>A</a:t>
            </a:r>
            <a:r>
              <a:rPr lang="en-US" dirty="0">
                <a:latin typeface="Arimo"/>
              </a:rPr>
              <a:t>.</a:t>
            </a:r>
            <a:br>
              <a:rPr lang="en-US" dirty="0">
                <a:latin typeface="Arimo"/>
              </a:rPr>
            </a:br>
            <a:r>
              <a:rPr lang="en-US" dirty="0" err="1">
                <a:latin typeface="Arimo"/>
              </a:rPr>
              <a:t>Notasi</a:t>
            </a:r>
            <a:r>
              <a:rPr lang="en-US" dirty="0">
                <a:latin typeface="Arimo"/>
              </a:rPr>
              <a:t>: </a:t>
            </a:r>
            <a:r>
              <a:rPr lang="en-US" i="1" dirty="0">
                <a:latin typeface="Arimo"/>
              </a:rPr>
              <a:t>n</a:t>
            </a:r>
            <a:r>
              <a:rPr lang="en-US" dirty="0">
                <a:latin typeface="Arimo"/>
              </a:rPr>
              <a:t>(</a:t>
            </a:r>
            <a:r>
              <a:rPr lang="en-US" i="1" dirty="0">
                <a:latin typeface="Arimo"/>
              </a:rPr>
              <a:t>A</a:t>
            </a:r>
            <a:r>
              <a:rPr lang="en-US" dirty="0">
                <a:latin typeface="Arimo"/>
              </a:rPr>
              <a:t>) </a:t>
            </a:r>
            <a:r>
              <a:rPr lang="en-US" dirty="0" err="1">
                <a:latin typeface="Arimo"/>
              </a:rPr>
              <a:t>atau</a:t>
            </a:r>
            <a:r>
              <a:rPr lang="en-US" dirty="0">
                <a:latin typeface="Arimo"/>
              </a:rPr>
              <a:t> │</a:t>
            </a:r>
            <a:r>
              <a:rPr lang="en-US" i="1" dirty="0">
                <a:latin typeface="Arimo"/>
              </a:rPr>
              <a:t>A </a:t>
            </a:r>
            <a:r>
              <a:rPr lang="en-US" dirty="0">
                <a:latin typeface="Arimo"/>
              </a:rPr>
              <a:t>│</a:t>
            </a:r>
            <a:br>
              <a:rPr lang="en-US" dirty="0">
                <a:latin typeface="Arimo"/>
              </a:rPr>
            </a:br>
            <a:r>
              <a:rPr lang="en-US" b="1" dirty="0" err="1">
                <a:latin typeface="Arimo"/>
              </a:rPr>
              <a:t>Contoh</a:t>
            </a:r>
            <a:r>
              <a:rPr lang="en-US" b="1" dirty="0">
                <a:latin typeface="Arimo"/>
              </a:rPr>
              <a:t> 6.</a:t>
            </a:r>
            <a:br>
              <a:rPr lang="en-US" b="1" dirty="0">
                <a:latin typeface="Arimo"/>
              </a:rPr>
            </a:br>
            <a:r>
              <a:rPr lang="en-US" dirty="0">
                <a:latin typeface="Arimo"/>
              </a:rPr>
              <a:t>(</a:t>
            </a:r>
            <a:r>
              <a:rPr lang="en-US" dirty="0" err="1">
                <a:latin typeface="Arimo"/>
              </a:rPr>
              <a:t>i</a:t>
            </a:r>
            <a:r>
              <a:rPr lang="en-US" dirty="0">
                <a:latin typeface="Arimo"/>
              </a:rPr>
              <a:t>) </a:t>
            </a:r>
            <a:r>
              <a:rPr lang="en-US" i="1" dirty="0">
                <a:latin typeface="Arimo"/>
              </a:rPr>
              <a:t>B </a:t>
            </a:r>
            <a:r>
              <a:rPr lang="en-US" dirty="0">
                <a:latin typeface="Arimo"/>
              </a:rPr>
              <a:t>= { </a:t>
            </a:r>
            <a:r>
              <a:rPr lang="en-US" i="1" dirty="0">
                <a:latin typeface="Arimo"/>
              </a:rPr>
              <a:t>x </a:t>
            </a:r>
            <a:r>
              <a:rPr lang="en-US" dirty="0">
                <a:latin typeface="Arimo"/>
              </a:rPr>
              <a:t>| </a:t>
            </a:r>
            <a:r>
              <a:rPr lang="en-US" i="1" dirty="0">
                <a:latin typeface="Arimo"/>
              </a:rPr>
              <a:t>x </a:t>
            </a:r>
            <a:r>
              <a:rPr lang="en-US" dirty="0" err="1">
                <a:latin typeface="Arimo"/>
              </a:rPr>
              <a:t>merupakan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bilangan</a:t>
            </a:r>
            <a:r>
              <a:rPr lang="en-US" dirty="0">
                <a:latin typeface="Arimo"/>
              </a:rPr>
              <a:t> prima </a:t>
            </a:r>
            <a:r>
              <a:rPr lang="en-US" dirty="0" err="1">
                <a:latin typeface="Arimo"/>
              </a:rPr>
              <a:t>lebih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kecil</a:t>
            </a:r>
            <a:r>
              <a:rPr lang="en-US" dirty="0">
                <a:latin typeface="Arimo"/>
              </a:rPr>
              <a:t> </a:t>
            </a:r>
            <a:r>
              <a:rPr lang="en-US" dirty="0" err="1">
                <a:latin typeface="Arimo"/>
              </a:rPr>
              <a:t>dari</a:t>
            </a:r>
            <a:r>
              <a:rPr lang="en-US" dirty="0">
                <a:latin typeface="Arimo"/>
              </a:rPr>
              <a:t> 20 }, </a:t>
            </a:r>
            <a:r>
              <a:rPr lang="en-US" dirty="0" err="1">
                <a:latin typeface="Arimo"/>
              </a:rPr>
              <a:t>atau</a:t>
            </a:r>
            <a:r>
              <a:rPr lang="en-US" dirty="0">
                <a:latin typeface="Arimo"/>
              </a:rPr>
              <a:t> </a:t>
            </a:r>
            <a:r>
              <a:rPr lang="en-US" i="1" dirty="0">
                <a:latin typeface="Arimo"/>
              </a:rPr>
              <a:t>B </a:t>
            </a:r>
            <a:r>
              <a:rPr lang="en-US" dirty="0">
                <a:latin typeface="Arimo"/>
              </a:rPr>
              <a:t>= {2, 3, 5, 7, 11, 13, 17, 19} </a:t>
            </a:r>
            <a:r>
              <a:rPr lang="en-US" dirty="0" err="1">
                <a:latin typeface="Arimo"/>
              </a:rPr>
              <a:t>maka</a:t>
            </a:r>
            <a:r>
              <a:rPr lang="en-US" dirty="0">
                <a:latin typeface="Arimo"/>
              </a:rPr>
              <a:t> │ </a:t>
            </a:r>
            <a:r>
              <a:rPr lang="en-US" i="1" dirty="0">
                <a:latin typeface="Arimo"/>
              </a:rPr>
              <a:t>B</a:t>
            </a:r>
            <a:r>
              <a:rPr lang="en-US" dirty="0">
                <a:latin typeface="Arimo"/>
              </a:rPr>
              <a:t> │ = </a:t>
            </a:r>
            <a:r>
              <a:rPr lang="en-US" i="1" dirty="0">
                <a:latin typeface="Arimo"/>
              </a:rPr>
              <a:t>n</a:t>
            </a:r>
            <a:r>
              <a:rPr lang="en-US" dirty="0">
                <a:latin typeface="Arimo"/>
              </a:rPr>
              <a:t>(</a:t>
            </a:r>
            <a:r>
              <a:rPr lang="en-US" i="1" dirty="0">
                <a:latin typeface="Arimo"/>
              </a:rPr>
              <a:t>B</a:t>
            </a:r>
            <a:r>
              <a:rPr lang="en-US" dirty="0">
                <a:latin typeface="Arimo"/>
              </a:rPr>
              <a:t>) = 8</a:t>
            </a:r>
            <a:br>
              <a:rPr lang="en-US" dirty="0">
                <a:latin typeface="Arimo"/>
              </a:rPr>
            </a:br>
            <a:r>
              <a:rPr lang="en-US" dirty="0">
                <a:latin typeface="Arimo"/>
              </a:rPr>
              <a:t>(ii) </a:t>
            </a:r>
            <a:r>
              <a:rPr lang="en-US" i="1" dirty="0">
                <a:latin typeface="Arimo"/>
              </a:rPr>
              <a:t>T </a:t>
            </a:r>
            <a:r>
              <a:rPr lang="en-US" dirty="0">
                <a:latin typeface="Arimo"/>
              </a:rPr>
              <a:t>= {</a:t>
            </a:r>
            <a:r>
              <a:rPr lang="en-US" dirty="0" err="1">
                <a:latin typeface="Arimo"/>
              </a:rPr>
              <a:t>kucing</a:t>
            </a:r>
            <a:r>
              <a:rPr lang="en-US" dirty="0">
                <a:latin typeface="Arimo"/>
              </a:rPr>
              <a:t>, </a:t>
            </a:r>
            <a:r>
              <a:rPr lang="en-US" i="1" dirty="0">
                <a:latin typeface="Arimo"/>
              </a:rPr>
              <a:t>a</a:t>
            </a:r>
            <a:r>
              <a:rPr lang="en-US" dirty="0">
                <a:latin typeface="Arimo"/>
              </a:rPr>
              <a:t>, Amir, 10, </a:t>
            </a:r>
            <a:r>
              <a:rPr lang="en-US" dirty="0" err="1">
                <a:latin typeface="Arimo"/>
              </a:rPr>
              <a:t>paku</a:t>
            </a:r>
            <a:r>
              <a:rPr lang="en-US" dirty="0">
                <a:latin typeface="Arimo"/>
              </a:rPr>
              <a:t>, laptop}, </a:t>
            </a:r>
            <a:r>
              <a:rPr lang="en-US" dirty="0" err="1">
                <a:latin typeface="Arimo"/>
              </a:rPr>
              <a:t>maka</a:t>
            </a:r>
            <a:r>
              <a:rPr lang="en-US" dirty="0">
                <a:latin typeface="Arimo"/>
              </a:rPr>
              <a:t> │ </a:t>
            </a:r>
            <a:r>
              <a:rPr lang="en-US" i="1" dirty="0">
                <a:latin typeface="Arimo"/>
              </a:rPr>
              <a:t>T</a:t>
            </a:r>
            <a:r>
              <a:rPr lang="en-US" dirty="0">
                <a:latin typeface="Arimo"/>
              </a:rPr>
              <a:t> │ = 6</a:t>
            </a:r>
            <a:br>
              <a:rPr lang="en-US" dirty="0">
                <a:latin typeface="Arimo"/>
              </a:rPr>
            </a:br>
            <a:r>
              <a:rPr lang="en-US" dirty="0">
                <a:latin typeface="Arimo"/>
              </a:rPr>
              <a:t>(iii) </a:t>
            </a:r>
            <a:r>
              <a:rPr lang="en-US" i="1" dirty="0">
                <a:latin typeface="Arimo"/>
              </a:rPr>
              <a:t>A </a:t>
            </a:r>
            <a:r>
              <a:rPr lang="en-US" dirty="0">
                <a:latin typeface="Arimo"/>
              </a:rPr>
              <a:t>= {2, {2, 3}, {4}, 6, {{7}} }, </a:t>
            </a:r>
            <a:r>
              <a:rPr lang="en-US" dirty="0" err="1">
                <a:latin typeface="Arimo"/>
              </a:rPr>
              <a:t>maka</a:t>
            </a:r>
            <a:r>
              <a:rPr lang="en-US" dirty="0">
                <a:latin typeface="Arimo"/>
              </a:rPr>
              <a:t> │ </a:t>
            </a:r>
            <a:r>
              <a:rPr lang="en-US" i="1" dirty="0">
                <a:latin typeface="Arimo"/>
              </a:rPr>
              <a:t>A</a:t>
            </a:r>
            <a:r>
              <a:rPr lang="en-US" dirty="0">
                <a:latin typeface="Arimo"/>
              </a:rPr>
              <a:t> │ = 5</a:t>
            </a:r>
            <a:br>
              <a:rPr lang="en-US" dirty="0">
                <a:latin typeface="Arimo"/>
              </a:rPr>
            </a:br>
            <a:r>
              <a:rPr lang="en-US" dirty="0">
                <a:latin typeface="Arimo"/>
              </a:rPr>
              <a:t/>
            </a:r>
            <a:br>
              <a:rPr lang="en-US" dirty="0">
                <a:latin typeface="Arimo"/>
              </a:rPr>
            </a:br>
            <a:endParaRPr lang="en-US" dirty="0"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84492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rimo"/>
              </a:rPr>
              <a:t>(iv) </a:t>
            </a:r>
            <a:r>
              <a:rPr lang="en-US" i="1" dirty="0" smtClean="0">
                <a:latin typeface="Arimo"/>
              </a:rPr>
              <a:t>C </a:t>
            </a:r>
            <a:r>
              <a:rPr lang="en-US" dirty="0" smtClean="0">
                <a:latin typeface="Arimo"/>
              </a:rPr>
              <a:t>= </a:t>
            </a:r>
            <a:r>
              <a:rPr lang="en-US" sz="4000" dirty="0">
                <a:latin typeface="Arimo"/>
              </a:rPr>
              <a:t>∅</a:t>
            </a:r>
            <a:r>
              <a:rPr lang="en-US" dirty="0" smtClean="0">
                <a:latin typeface="Arimo"/>
              </a:rPr>
              <a:t> , </a:t>
            </a:r>
            <a:r>
              <a:rPr lang="en-US" dirty="0" err="1" smtClean="0">
                <a:latin typeface="Arimo"/>
              </a:rPr>
              <a:t>maka</a:t>
            </a:r>
            <a:r>
              <a:rPr lang="en-US" dirty="0" smtClean="0">
                <a:latin typeface="Arimo"/>
              </a:rPr>
              <a:t> </a:t>
            </a:r>
            <a:r>
              <a:rPr lang="en-US" i="1" dirty="0" smtClean="0">
                <a:latin typeface="Arimo"/>
              </a:rPr>
              <a:t>n</a:t>
            </a:r>
            <a:r>
              <a:rPr lang="en-US" dirty="0" smtClean="0">
                <a:latin typeface="Arimo"/>
              </a:rPr>
              <a:t>(</a:t>
            </a:r>
            <a:r>
              <a:rPr lang="en-US" i="1" dirty="0" smtClean="0">
                <a:latin typeface="Arimo"/>
              </a:rPr>
              <a:t>C</a:t>
            </a:r>
            <a:r>
              <a:rPr lang="en-US" dirty="0" smtClean="0">
                <a:latin typeface="Arimo"/>
              </a:rPr>
              <a:t>) = 0</a:t>
            </a:r>
            <a:br>
              <a:rPr lang="en-US" dirty="0" smtClean="0">
                <a:latin typeface="Arimo"/>
              </a:rPr>
            </a:br>
            <a:r>
              <a:rPr lang="en-US" i="1" dirty="0" smtClean="0">
                <a:latin typeface="Arimo"/>
              </a:rPr>
              <a:t>(v) D </a:t>
            </a:r>
            <a:r>
              <a:rPr lang="en-US" dirty="0" smtClean="0">
                <a:latin typeface="Arimo"/>
              </a:rPr>
              <a:t>= { </a:t>
            </a:r>
            <a:r>
              <a:rPr lang="en-US" i="1" dirty="0" smtClean="0">
                <a:latin typeface="Arimo"/>
              </a:rPr>
              <a:t>x </a:t>
            </a:r>
            <a:r>
              <a:rPr lang="en-US" dirty="0" smtClean="0">
                <a:latin typeface="Arimo"/>
              </a:rPr>
              <a:t>∈ </a:t>
            </a:r>
            <a:r>
              <a:rPr lang="en-US" b="1" dirty="0" smtClean="0">
                <a:latin typeface="Arimo"/>
              </a:rPr>
              <a:t>N </a:t>
            </a:r>
            <a:r>
              <a:rPr lang="en-US" dirty="0" smtClean="0">
                <a:latin typeface="Arimo"/>
              </a:rPr>
              <a:t>| </a:t>
            </a:r>
            <a:r>
              <a:rPr lang="en-US" i="1" dirty="0" smtClean="0">
                <a:latin typeface="Arimo"/>
              </a:rPr>
              <a:t>x </a:t>
            </a:r>
            <a:r>
              <a:rPr lang="en-US" dirty="0" smtClean="0">
                <a:latin typeface="Arimo"/>
              </a:rPr>
              <a:t>&lt; 5000 }, </a:t>
            </a:r>
            <a:r>
              <a:rPr lang="en-US" dirty="0" err="1" smtClean="0">
                <a:latin typeface="Arimo"/>
              </a:rPr>
              <a:t>maka</a:t>
            </a:r>
            <a:r>
              <a:rPr lang="en-US" dirty="0" smtClean="0">
                <a:latin typeface="Arimo"/>
              </a:rPr>
              <a:t> </a:t>
            </a:r>
            <a:r>
              <a:rPr lang="en-US" i="1" dirty="0" smtClean="0">
                <a:latin typeface="Arimo"/>
              </a:rPr>
              <a:t>n</a:t>
            </a:r>
            <a:r>
              <a:rPr lang="en-US" dirty="0" smtClean="0">
                <a:latin typeface="Arimo"/>
              </a:rPr>
              <a:t>(</a:t>
            </a:r>
            <a:r>
              <a:rPr lang="en-US" i="1" dirty="0" smtClean="0">
                <a:latin typeface="Arimo"/>
              </a:rPr>
              <a:t>D</a:t>
            </a:r>
            <a:r>
              <a:rPr lang="en-US" dirty="0" smtClean="0">
                <a:latin typeface="Arimo"/>
              </a:rPr>
              <a:t>) = 4999</a:t>
            </a:r>
            <a:br>
              <a:rPr lang="en-US" dirty="0" smtClean="0">
                <a:latin typeface="Arimo"/>
              </a:rPr>
            </a:br>
            <a:r>
              <a:rPr lang="en-US" i="1" dirty="0" smtClean="0">
                <a:latin typeface="Arimo"/>
              </a:rPr>
              <a:t>(vi) D </a:t>
            </a:r>
            <a:r>
              <a:rPr lang="en-US" dirty="0" smtClean="0">
                <a:latin typeface="Arimo"/>
              </a:rPr>
              <a:t>= { </a:t>
            </a:r>
            <a:r>
              <a:rPr lang="en-US" i="1" dirty="0" smtClean="0">
                <a:latin typeface="Arimo"/>
              </a:rPr>
              <a:t>x </a:t>
            </a:r>
            <a:r>
              <a:rPr lang="en-US" dirty="0" smtClean="0">
                <a:latin typeface="Arimo"/>
              </a:rPr>
              <a:t>∈ </a:t>
            </a:r>
            <a:r>
              <a:rPr lang="en-US" b="1" dirty="0" smtClean="0">
                <a:latin typeface="Arimo"/>
              </a:rPr>
              <a:t>N </a:t>
            </a:r>
            <a:r>
              <a:rPr lang="en-US" dirty="0" smtClean="0">
                <a:latin typeface="Arimo"/>
              </a:rPr>
              <a:t>| </a:t>
            </a:r>
            <a:r>
              <a:rPr lang="en-US" i="1" dirty="0" smtClean="0">
                <a:latin typeface="Arimo"/>
              </a:rPr>
              <a:t>x </a:t>
            </a:r>
            <a:r>
              <a:rPr lang="en-US" dirty="0" smtClean="0">
                <a:latin typeface="Arimo"/>
              </a:rPr>
              <a:t>∈ 5000 }, </a:t>
            </a:r>
            <a:r>
              <a:rPr lang="en-US" dirty="0" err="1" smtClean="0">
                <a:latin typeface="Arimo"/>
              </a:rPr>
              <a:t>maka</a:t>
            </a:r>
            <a:r>
              <a:rPr lang="en-US" dirty="0" smtClean="0">
                <a:latin typeface="Arimo"/>
              </a:rPr>
              <a:t> </a:t>
            </a:r>
            <a:r>
              <a:rPr lang="en-US" i="1" dirty="0" smtClean="0">
                <a:latin typeface="Arimo"/>
              </a:rPr>
              <a:t>n</a:t>
            </a:r>
            <a:r>
              <a:rPr lang="en-US" dirty="0" smtClean="0">
                <a:latin typeface="Arimo"/>
              </a:rPr>
              <a:t>(</a:t>
            </a:r>
            <a:r>
              <a:rPr lang="en-US" i="1" dirty="0" smtClean="0">
                <a:latin typeface="Arimo"/>
              </a:rPr>
              <a:t>D</a:t>
            </a:r>
            <a:r>
              <a:rPr lang="en-US" dirty="0" smtClean="0">
                <a:latin typeface="Arimo"/>
              </a:rPr>
              <a:t>) </a:t>
            </a:r>
            <a:r>
              <a:rPr lang="en-US" dirty="0" err="1" smtClean="0">
                <a:latin typeface="Arimo"/>
              </a:rPr>
              <a:t>tak</a:t>
            </a:r>
            <a:r>
              <a:rPr lang="en-US" dirty="0" smtClean="0">
                <a:latin typeface="Arimo"/>
              </a:rPr>
              <a:t> </a:t>
            </a:r>
            <a:r>
              <a:rPr lang="en-US" dirty="0" err="1" smtClean="0">
                <a:latin typeface="Arimo"/>
              </a:rPr>
              <a:t>berhingga</a:t>
            </a:r>
            <a:endParaRPr lang="en-US" dirty="0" smtClean="0"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250107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997075" y="333375"/>
            <a:ext cx="8229600" cy="1143000"/>
          </a:xfrm>
        </p:spPr>
        <p:txBody>
          <a:bodyPr/>
          <a:lstStyle/>
          <a:p>
            <a:r>
              <a:rPr lang="en-US" smtClean="0"/>
              <a:t>Himpunan Kosong </a:t>
            </a:r>
            <a:r>
              <a:rPr lang="en-US" i="1" smtClean="0"/>
              <a:t>(null set)</a:t>
            </a:r>
          </a:p>
        </p:txBody>
      </p:sp>
      <p:pic>
        <p:nvPicPr>
          <p:cNvPr id="22531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77471" y="1700214"/>
            <a:ext cx="8955554" cy="4073525"/>
          </a:xfrm>
        </p:spPr>
      </p:pic>
    </p:spTree>
    <p:extLst>
      <p:ext uri="{BB962C8B-B14F-4D97-AF65-F5344CB8AC3E}">
        <p14:creationId xmlns:p14="http://schemas.microsoft.com/office/powerpoint/2010/main" val="3488387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Himpunan Bagian (sub set)</a:t>
            </a:r>
          </a:p>
        </p:txBody>
      </p:sp>
      <p:pic>
        <p:nvPicPr>
          <p:cNvPr id="23555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417639"/>
            <a:ext cx="8229600" cy="4243387"/>
          </a:xfrm>
        </p:spPr>
      </p:pic>
    </p:spTree>
    <p:extLst>
      <p:ext uri="{BB962C8B-B14F-4D97-AF65-F5344CB8AC3E}">
        <p14:creationId xmlns:p14="http://schemas.microsoft.com/office/powerpoint/2010/main" val="279185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4579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2282" y="1125539"/>
            <a:ext cx="8912506" cy="5056187"/>
          </a:xfrm>
        </p:spPr>
      </p:pic>
    </p:spTree>
    <p:extLst>
      <p:ext uri="{BB962C8B-B14F-4D97-AF65-F5344CB8AC3E}">
        <p14:creationId xmlns:p14="http://schemas.microsoft.com/office/powerpoint/2010/main" val="112634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5603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268414"/>
            <a:ext cx="8229600" cy="4797425"/>
          </a:xfrm>
        </p:spPr>
      </p:pic>
    </p:spTree>
    <p:extLst>
      <p:ext uri="{BB962C8B-B14F-4D97-AF65-F5344CB8AC3E}">
        <p14:creationId xmlns:p14="http://schemas.microsoft.com/office/powerpoint/2010/main" val="1719176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6627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341438"/>
            <a:ext cx="8229600" cy="4551362"/>
          </a:xfrm>
        </p:spPr>
      </p:pic>
    </p:spTree>
    <p:extLst>
      <p:ext uri="{BB962C8B-B14F-4D97-AF65-F5344CB8AC3E}">
        <p14:creationId xmlns:p14="http://schemas.microsoft.com/office/powerpoint/2010/main" val="226940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838200" y="699247"/>
            <a:ext cx="10515600" cy="991441"/>
          </a:xfrm>
        </p:spPr>
        <p:txBody>
          <a:bodyPr/>
          <a:lstStyle/>
          <a:p>
            <a:r>
              <a:rPr lang="en-US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mo"/>
              </a:rPr>
              <a:t>Contoh soal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Misalkan</a:t>
            </a:r>
            <a:r>
              <a:rPr lang="en-US" dirty="0" smtClean="0"/>
              <a:t> </a:t>
            </a:r>
            <a:r>
              <a:rPr lang="en-US" i="1" dirty="0" smtClean="0"/>
              <a:t>A </a:t>
            </a:r>
            <a:r>
              <a:rPr lang="en-US" dirty="0" smtClean="0"/>
              <a:t>= {1, 2, 3}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i="1" dirty="0" smtClean="0"/>
              <a:t>B </a:t>
            </a:r>
            <a:r>
              <a:rPr lang="en-US" dirty="0" smtClean="0"/>
              <a:t>= {1, 2, 3, 4, 5}. </a:t>
            </a:r>
            <a:r>
              <a:rPr lang="en-US" dirty="0" err="1" smtClean="0"/>
              <a:t>Tentukan</a:t>
            </a:r>
            <a:r>
              <a:rPr lang="en-US" dirty="0" smtClean="0"/>
              <a:t> </a:t>
            </a:r>
            <a:r>
              <a:rPr lang="en-US" dirty="0" err="1" smtClean="0"/>
              <a:t>semua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kemungkinan</a:t>
            </a:r>
            <a:r>
              <a:rPr lang="en-US" dirty="0" smtClean="0"/>
              <a:t> </a:t>
            </a:r>
            <a:r>
              <a:rPr lang="en-US" dirty="0" err="1" smtClean="0"/>
              <a:t>himpunan</a:t>
            </a:r>
            <a:r>
              <a:rPr lang="en-US" dirty="0" smtClean="0"/>
              <a:t> </a:t>
            </a:r>
            <a:r>
              <a:rPr lang="en-US" i="1" dirty="0" smtClean="0"/>
              <a:t>C </a:t>
            </a:r>
            <a:r>
              <a:rPr lang="en-US" dirty="0" err="1" smtClean="0"/>
              <a:t>sedemikian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</a:t>
            </a:r>
            <a:r>
              <a:rPr lang="en-US" i="1" dirty="0" smtClean="0"/>
              <a:t>A </a:t>
            </a:r>
            <a:r>
              <a:rPr lang="en-US" dirty="0" smtClean="0"/>
              <a:t>⊂ </a:t>
            </a:r>
            <a:r>
              <a:rPr lang="en-US" i="1" dirty="0" smtClean="0"/>
              <a:t>C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i="1" dirty="0" smtClean="0"/>
              <a:t>C </a:t>
            </a:r>
            <a:r>
              <a:rPr lang="en-US" dirty="0" smtClean="0"/>
              <a:t>⊂ </a:t>
            </a:r>
            <a:r>
              <a:rPr lang="en-US" i="1" dirty="0" smtClean="0"/>
              <a:t>B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i="1" dirty="0" smtClean="0"/>
              <a:t>A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i="1" dirty="0" smtClean="0"/>
              <a:t>proper subset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i="1" dirty="0" smtClean="0"/>
              <a:t>C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i="1" dirty="0" smtClean="0"/>
              <a:t>C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i="1" dirty="0" smtClean="0"/>
              <a:t>proper subset</a:t>
            </a:r>
            <a:br>
              <a:rPr lang="en-US" i="1" dirty="0" smtClean="0"/>
            </a:b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i="1" dirty="0" smtClean="0"/>
              <a:t>B</a:t>
            </a:r>
            <a:r>
              <a:rPr lang="en-US" dirty="0" smtClean="0"/>
              <a:t>. </a:t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9285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smtClean="0">
                <a:solidFill>
                  <a:srgbClr val="FF0000"/>
                </a:solidFill>
                <a:latin typeface="Calibri-Italic"/>
              </a:rPr>
              <a:t>Data: </a:t>
            </a:r>
            <a:r>
              <a:rPr lang="en-US" smtClean="0">
                <a:solidFill>
                  <a:srgbClr val="FF0000"/>
                </a:solidFill>
                <a:latin typeface="Calibri" panose="020F0502020204030204" pitchFamily="34" charset="0"/>
              </a:rPr>
              <a:t>A = {1, 2, 3} dan B = {1, 2, 3, 4, 5}, lalu A </a:t>
            </a:r>
            <a:r>
              <a:rPr lang="en-US" smtClean="0">
                <a:solidFill>
                  <a:srgbClr val="FF0000"/>
                </a:solidFill>
              </a:rPr>
              <a:t>⊂</a:t>
            </a:r>
            <a:r>
              <a:rPr lang="en-US" smtClean="0">
                <a:solidFill>
                  <a:srgbClr val="FF0000"/>
                </a:solidFill>
                <a:latin typeface="SymbolMT"/>
              </a:rPr>
              <a:t> </a:t>
            </a:r>
            <a:r>
              <a:rPr lang="en-US" smtClean="0">
                <a:solidFill>
                  <a:srgbClr val="FF0000"/>
                </a:solidFill>
                <a:latin typeface="Calibri" panose="020F0502020204030204" pitchFamily="34" charset="0"/>
              </a:rPr>
              <a:t>C dan C </a:t>
            </a:r>
            <a:r>
              <a:rPr lang="en-US" smtClean="0">
                <a:solidFill>
                  <a:srgbClr val="FF0000"/>
                </a:solidFill>
              </a:rPr>
              <a:t>⊂</a:t>
            </a:r>
            <a:r>
              <a:rPr lang="en-US" smtClean="0">
                <a:solidFill>
                  <a:srgbClr val="FF0000"/>
                </a:solidFill>
                <a:latin typeface="SymbolMT"/>
              </a:rPr>
              <a:t> </a:t>
            </a:r>
            <a:r>
              <a:rPr lang="en-US" smtClean="0">
                <a:solidFill>
                  <a:srgbClr val="FF0000"/>
                </a:solidFill>
                <a:latin typeface="Calibri" panose="020F0502020204030204" pitchFamily="34" charset="0"/>
              </a:rPr>
              <a:t>B</a:t>
            </a:r>
            <a:br>
              <a:rPr lang="en-US" smtClean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en-US" i="1" smtClean="0">
                <a:solidFill>
                  <a:srgbClr val="000000"/>
                </a:solidFill>
                <a:latin typeface="Calibri-Italic"/>
              </a:rPr>
              <a:t>C </a:t>
            </a:r>
            <a: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  <a:t>harus mengandung semua elemen </a:t>
            </a:r>
            <a:r>
              <a:rPr lang="en-US" i="1" smtClean="0">
                <a:solidFill>
                  <a:srgbClr val="000000"/>
                </a:solidFill>
                <a:latin typeface="Calibri-Italic"/>
              </a:rPr>
              <a:t>A </a:t>
            </a:r>
            <a: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  <a:t>= {1, 2, 3} dan sekurangkurangnya satu elemen dari </a:t>
            </a:r>
            <a:r>
              <a:rPr lang="en-US" i="1" smtClean="0">
                <a:solidFill>
                  <a:srgbClr val="000000"/>
                </a:solidFill>
                <a:latin typeface="Calibri-Italic"/>
              </a:rPr>
              <a:t>B</a:t>
            </a:r>
            <a: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b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  <a:t>Dengan demikian, </a:t>
            </a:r>
            <a:r>
              <a:rPr lang="en-US" i="1" smtClean="0">
                <a:solidFill>
                  <a:srgbClr val="000000"/>
                </a:solidFill>
                <a:latin typeface="Calibri-Italic"/>
              </a:rPr>
              <a:t>C </a:t>
            </a:r>
            <a: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  <a:t>= {1, 2, 3, 4} atau </a:t>
            </a:r>
            <a:r>
              <a:rPr lang="en-US" i="1" smtClean="0">
                <a:solidFill>
                  <a:srgbClr val="000000"/>
                </a:solidFill>
                <a:latin typeface="Calibri-Italic"/>
              </a:rPr>
              <a:t>C </a:t>
            </a:r>
            <a: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  <a:t>= {1, 2, 3, 5}.</a:t>
            </a:r>
            <a:b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i="1" smtClean="0">
                <a:solidFill>
                  <a:srgbClr val="000000"/>
                </a:solidFill>
                <a:latin typeface="Calibri-Italic"/>
              </a:rPr>
              <a:t>C </a:t>
            </a:r>
            <a: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  <a:t>tidak boleh memuat 4 dan 5 sekaligus karena </a:t>
            </a:r>
            <a:r>
              <a:rPr lang="en-US" i="1" smtClean="0">
                <a:solidFill>
                  <a:srgbClr val="000000"/>
                </a:solidFill>
                <a:latin typeface="Calibri-Italic"/>
              </a:rPr>
              <a:t>C </a:t>
            </a:r>
            <a: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  <a:t>adalah </a:t>
            </a:r>
            <a:r>
              <a:rPr lang="en-US" i="1" smtClean="0">
                <a:solidFill>
                  <a:srgbClr val="000000"/>
                </a:solidFill>
                <a:latin typeface="Calibri-Italic"/>
              </a:rPr>
              <a:t>proper subset</a:t>
            </a:r>
            <a:br>
              <a:rPr lang="en-US" i="1" smtClean="0">
                <a:solidFill>
                  <a:srgbClr val="000000"/>
                </a:solidFill>
                <a:latin typeface="Calibri-Italic"/>
              </a:rPr>
            </a:br>
            <a: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  <a:t>dari </a:t>
            </a:r>
            <a:r>
              <a:rPr lang="en-US" i="1" smtClean="0">
                <a:solidFill>
                  <a:srgbClr val="000000"/>
                </a:solidFill>
                <a:latin typeface="Calibri-Italic"/>
              </a:rPr>
              <a:t>B</a:t>
            </a:r>
            <a:r>
              <a:rPr lang="en-US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r>
              <a:rPr lang="en-US" smtClean="0"/>
              <a:t> </a:t>
            </a:r>
            <a:br>
              <a:rPr lang="en-US" smtClean="0"/>
            </a:b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0295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641</TotalTime>
  <Words>1351</Words>
  <Application>Microsoft Office PowerPoint</Application>
  <PresentationFormat>Widescreen</PresentationFormat>
  <Paragraphs>129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7" baseType="lpstr">
      <vt:lpstr>Adobe Fan Heiti Std B</vt:lpstr>
      <vt:lpstr>Adobe Caslon Pro Bold</vt:lpstr>
      <vt:lpstr>Adobe Garamond Pro Bold</vt:lpstr>
      <vt:lpstr>Agency FB</vt:lpstr>
      <vt:lpstr>Arial</vt:lpstr>
      <vt:lpstr>Arimo</vt:lpstr>
      <vt:lpstr>Bahnschrift SemiBold</vt:lpstr>
      <vt:lpstr>Calibri</vt:lpstr>
      <vt:lpstr>Calibri Light</vt:lpstr>
      <vt:lpstr>Calibri-Italic</vt:lpstr>
      <vt:lpstr>Copperplate Gothic Bold</vt:lpstr>
      <vt:lpstr>Outfit Extra Bold</vt:lpstr>
      <vt:lpstr>SymbolMT</vt:lpstr>
      <vt:lpstr>Office Theme</vt:lpstr>
      <vt:lpstr>Saya percaya diri dan mampu  Saya adalah pribadi yang penuh energi dan semangat Saya selalu berpikir positif dan optimis Saya siap untuk pencapaian baru </vt:lpstr>
      <vt:lpstr>MATEMATIKA DISKRIT</vt:lpstr>
      <vt:lpstr>PowerPoint Presentation</vt:lpstr>
      <vt:lpstr>materi</vt:lpstr>
      <vt:lpstr>Referensi</vt:lpstr>
      <vt:lpstr>PENILAIAN</vt:lpstr>
      <vt:lpstr>Matematika diskrit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Himpunan</vt:lpstr>
      <vt:lpstr>Contoh himpunan</vt:lpstr>
      <vt:lpstr>PowerPoint Presentation</vt:lpstr>
      <vt:lpstr>PowerPoint Presentation</vt:lpstr>
      <vt:lpstr>PowerPoint Presentation</vt:lpstr>
      <vt:lpstr>Cara penyajian Himpunan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Kardinalitas</vt:lpstr>
      <vt:lpstr>PowerPoint Presentation</vt:lpstr>
      <vt:lpstr>Himpunan Kosong (null set)</vt:lpstr>
      <vt:lpstr>Himpunan Bagian (sub set)</vt:lpstr>
      <vt:lpstr>PowerPoint Presentation</vt:lpstr>
      <vt:lpstr>PowerPoint Presentation</vt:lpstr>
      <vt:lpstr>PowerPoint Presentation</vt:lpstr>
      <vt:lpstr>Contoh soal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PC054</dc:creator>
  <cp:lastModifiedBy>PC054</cp:lastModifiedBy>
  <cp:revision>22</cp:revision>
  <dcterms:created xsi:type="dcterms:W3CDTF">2025-08-29T03:16:41Z</dcterms:created>
  <dcterms:modified xsi:type="dcterms:W3CDTF">2025-09-22T07:29:43Z</dcterms:modified>
</cp:coreProperties>
</file>